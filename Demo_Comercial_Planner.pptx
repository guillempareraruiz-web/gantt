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s-E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4761EA-6426-4013-9718-034B34010D93}" type="datetimeFigureOut">
              <a:rPr lang="es-ES" smtClean="0"/>
              <a:t>29/06/2026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C4D8D-B1D6-4B09-AE5C-E902375C77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2297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Gracias por el tiempo. En esta hora os voy a ensenar algo que creo que os va a gustar. No vengo a deciros como trabajais hoy, eso ya lo sabeis vosotros mejor que nadie, vengo a ensenaros como podriais trabajar.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C4D8D-B1D6-4B09-AE5C-E902375C774B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8517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Tres ideas: es facil de usar, habla con vuestro Sage solo, y se adapta a como trabajais vosotros. Cada cosa que os ensene encajara en una de estas tres.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C4D8D-B1D6-4B09-AE5C-E902375C774B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0202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Lo primero: no teneis que cambiar nada. Estas son vuestras ordenes, directas de Sage, sin teclear nada. El planner se conecta solo.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C4D8D-B1D6-4B09-AE5C-E902375C774B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7320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Lo que ahora copiais a mano a un Excel cada manana, aqui ya esta.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C4D8D-B1D6-4B09-AE5C-E902375C774B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93830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Mira que facil. En segundos: un plan completo, respetando calendarios, turnos, sin que dos cosas choquen. Y lo que mas me gusta: ver donde os vais a saturar ANTES de que pase. Rojo... y ahora verde. Si entra un urgente, lo moveis y todo se recoloca solo. (Silencio 2 segundos.)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C4D8D-B1D6-4B09-AE5C-E902375C774B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36460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Esto en Excel es imposible, o os lleva horas y aun asi con errores.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C4D8D-B1D6-4B09-AE5C-E902375C774B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94715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No os imponemos una forma de planificar. Hacia adelante desde hoy, hacia atras desde la fecha de entrega, por reglas, o a mano. Incluso podeis comparar metodos y quedaros con el mejor.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C4D8D-B1D6-4B09-AE5C-E902375C774B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70621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No solo maquinas. Tambien personas, con sus habilidades. El plan sabe quien puede hacer que, y os avisa si alguien esta sobrecargado.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C4D8D-B1D6-4B09-AE5C-E902375C774B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43893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Si teneis procesos que van juntos, todas las piezas del mismo color en una pasada de pintura, varias en una misma hornada, los agrupais en un lote y se planifican juntos.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C4D8D-B1D6-4B09-AE5C-E902375C774B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50163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Si trabajais con moldes o utillajes, sabeis en todo momento cual esta en cada maquina, su estado y su mantenimiento.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C4D8D-B1D6-4B09-AE5C-E902375C774B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75021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De que sirve un plan perfecto si os falta el material? El planner proyecta el stock y os avisa, enlazado con la planificacion.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C4D8D-B1D6-4B09-AE5C-E902375C774B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71667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Esto se ajusta a COMO trabajais vosotros, no al reves. Vuestros propios datos, vuestra forma de verlo. El mismo plan en Gantt, en Kanban o en graficos.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C4D8D-B1D6-4B09-AE5C-E902375C774B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36935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Empezais con lo que necesitais hoy, y el dia que querais mas, ya esta ahi.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C4D8D-B1D6-4B09-AE5C-E902375C774B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79925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Os habeis equivocado? Volveis atras el plan entero con un clic. Algo se tuerce? El sistema os avisa. Dormis tranquilos.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C4D8D-B1D6-4B09-AE5C-E902375C774B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20074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gerencia: la foto completa de la fabrica en graficos. Donde estais justos, si cumplis entregas, como aprovechais cada centro.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C4D8D-B1D6-4B09-AE5C-E902375C774B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27866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Recapitulando: el tiempo que hoy dedicais a planificar se reduce a una fraccion, os adelantais a los problemas, y aprovechais mejor lo que ya teneis. Esto se paga solo. (NO decir precio: lo lleva comercial despues.)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C4D8D-B1D6-4B09-AE5C-E902375C774B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09449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En vez de pelearte con un Excel, abres el plan, ves que hacer, donde estas justo, y si entra un urgente lo resuelves en segundos.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C4D8D-B1D6-4B09-AE5C-E902375C774B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03604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Que os ha parecido? Lo siguiente que me encantaria es ensenaros esto con mas datos vuestros, para que lo veais con vuestra realidad completa.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C4D8D-B1D6-4B09-AE5C-E902375C774B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7185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29A8D6-CE22-7442-7A50-C3FB23A74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E70B2F-5675-C8C9-F08C-3E10CFBBA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561D28-58C2-0307-2ADA-F52A1B9FC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DD10A-2E6D-4D64-AC05-E0F71173A7AF}" type="datetimeFigureOut">
              <a:rPr lang="es-ES" smtClean="0"/>
              <a:t>29/06/2026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934A54-F0B2-CE4F-88EC-B78E285B2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18D814-AB07-5515-B7CF-746540C64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15860-4C32-4A2D-95F2-CAA8A9BC7F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8690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C6E9CB-BD19-8F11-C5A8-4CD76B5F2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5598D8-F7E1-7D15-4926-ED953E545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80210A-09D6-32EA-C392-94C427FD5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DD10A-2E6D-4D64-AC05-E0F71173A7AF}" type="datetimeFigureOut">
              <a:rPr lang="es-ES" smtClean="0"/>
              <a:t>29/06/2026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57B8FE-A879-EA4F-CBF2-97D84DC99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7F5A88-C66B-3015-8B74-342F4FAD2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15860-4C32-4A2D-95F2-CAA8A9BC7F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817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BA4406-B20A-8818-985E-D26A58DED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0D53589-F7C4-FB42-EC2D-BEBE5AF07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0CB449-9213-362C-5B5D-AA14CBECA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DD10A-2E6D-4D64-AC05-E0F71173A7AF}" type="datetimeFigureOut">
              <a:rPr lang="es-ES" smtClean="0"/>
              <a:t>29/06/2026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684383-0231-54EC-AD54-7AD864735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4F37D6-C4D8-C632-5CAE-38981B6B8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15860-4C32-4A2D-95F2-CAA8A9BC7F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0446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80D96B-630E-0EAA-23B5-991F8BD53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1EAF83-06A2-49CA-D72F-B07B4984C9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85621E8-D390-9A3C-04D7-5DFBBE070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D33E3C9-663C-8992-3625-30BFC2F6B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DD10A-2E6D-4D64-AC05-E0F71173A7AF}" type="datetimeFigureOut">
              <a:rPr lang="es-ES" smtClean="0"/>
              <a:t>29/06/2026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FFE834A-60E5-2047-C579-8427EC133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23230B2-B35A-A969-22CE-6E439A4BE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15860-4C32-4A2D-95F2-CAA8A9BC7F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0824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5861E-90E3-3E68-5E94-376AF2D9B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061871-9ADC-2F3E-ACC4-7ED4D00EE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E14CD45-69FD-A04B-252B-84270225F4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A83B7D7-9F81-A191-4F63-0FD9B118ED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477DE45-9DD1-EBC2-19B4-A819EF53FC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242B1A0-5BFB-F525-459D-1F0A96FDB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DD10A-2E6D-4D64-AC05-E0F71173A7AF}" type="datetimeFigureOut">
              <a:rPr lang="es-ES" smtClean="0"/>
              <a:t>29/06/2026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DD2965F-9033-6EDF-9D2E-4790AF66B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F11C7B5-BD0D-7148-1628-EB397FDEE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15860-4C32-4A2D-95F2-CAA8A9BC7F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8644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FDA324-6928-3ECE-ADCC-0F2BE6791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0ED5490-740A-200D-6E0D-29AA4E0FE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DD10A-2E6D-4D64-AC05-E0F71173A7AF}" type="datetimeFigureOut">
              <a:rPr lang="es-ES" smtClean="0"/>
              <a:t>29/06/2026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9DF3F43-7F1C-86AE-83A2-E088736C4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52A078B-F865-EFF5-2ACF-FC461C54F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15860-4C32-4A2D-95F2-CAA8A9BC7F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0264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6C3E07-4E45-64FC-5457-A293E2DFB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DD10A-2E6D-4D64-AC05-E0F71173A7AF}" type="datetimeFigureOut">
              <a:rPr lang="es-ES" smtClean="0"/>
              <a:t>29/06/2026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704226E-9B78-2A87-FF43-B8A6687D3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483F63-8643-BFDF-9A44-4A64799FA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15860-4C32-4A2D-95F2-CAA8A9BC7F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7633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94D1A9-A7DD-26C6-0D42-863179436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732FDA-1CEA-6322-0A3A-D6AF1AE8B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56B56EA-6018-6DD7-9490-A946D739A0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2959A13-D163-FA38-AFDB-6BDF5A328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DD10A-2E6D-4D64-AC05-E0F71173A7AF}" type="datetimeFigureOut">
              <a:rPr lang="es-ES" smtClean="0"/>
              <a:t>29/06/2026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87441D-8A1E-1AEE-361C-9CA3CA8C0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2D2ABD5-C187-34E6-24AE-51D9634FC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15860-4C32-4A2D-95F2-CAA8A9BC7F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4855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2F537C-8A2A-CF7C-DE87-564548735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F0540DD-677E-708F-CD6C-5BEF60F56A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F5DAB05-E257-672B-A29D-3D17F819A6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82D314F-8F03-AEE7-64D4-3C0BF1C15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DD10A-2E6D-4D64-AC05-E0F71173A7AF}" type="datetimeFigureOut">
              <a:rPr lang="es-ES" smtClean="0"/>
              <a:t>29/06/2026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B8A8F96-1773-3AEA-BAA8-215EB949E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BD100BE-F5F2-4B5C-A2BD-F61C60467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15860-4C32-4A2D-95F2-CAA8A9BC7F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4617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36FE59-EFD1-96E7-74AD-56236CDC5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597ABA1-1B63-B680-0D08-0FE79F5316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C9C97B-425B-C445-223A-B61B9A901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DD10A-2E6D-4D64-AC05-E0F71173A7AF}" type="datetimeFigureOut">
              <a:rPr lang="es-ES" smtClean="0"/>
              <a:t>29/06/2026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F8B6CB-ED15-2D9E-F017-F3F477827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F45588-960C-E566-9625-D2D0E93FA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15860-4C32-4A2D-95F2-CAA8A9BC7F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6633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0E0D0E6-8BC4-F178-631D-136F47FF4F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41B0E06-4D3C-F7E5-345A-C0C7289BA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976D16-6F7D-AB83-3644-790CF7177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DD10A-2E6D-4D64-AC05-E0F71173A7AF}" type="datetimeFigureOut">
              <a:rPr lang="es-ES" smtClean="0"/>
              <a:t>29/06/2026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89F9CC-1B91-57EA-AFA0-B5B48E349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AED435-4D32-5D60-ADA9-192D3B50D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15860-4C32-4A2D-95F2-CAA8A9BC7F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6288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E823BEC-12A7-4626-126D-65E573311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03F7FC8-AABE-70B1-DDA6-11597AE87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455954-82B5-9118-46C7-332095F26D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CDD10A-2E6D-4D64-AC05-E0F71173A7AF}" type="datetimeFigureOut">
              <a:rPr lang="es-ES" smtClean="0"/>
              <a:t>29/06/2026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89DCC1-8D56-192B-70D0-3BB530CB9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C2BF79-F5FF-E832-0B08-F6770C3E3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D15860-4C32-4A2D-95F2-CAA8A9BC7F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4224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E46D210-DB06-344D-04BC-97AAF00C4D07}"/>
              </a:ext>
            </a:extLst>
          </p:cNvPr>
          <p:cNvSpPr/>
          <p:nvPr/>
        </p:nvSpPr>
        <p:spPr>
          <a:xfrm>
            <a:off x="731520" y="2057400"/>
            <a:ext cx="914400" cy="76200"/>
          </a:xfrm>
          <a:prstGeom prst="rect">
            <a:avLst/>
          </a:prstGeom>
          <a:solidFill>
            <a:srgbClr val="2878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8B16A51-6D98-73AC-36D0-ED2AD2F7C70B}"/>
              </a:ext>
            </a:extLst>
          </p:cNvPr>
          <p:cNvSpPr txBox="1"/>
          <p:nvPr/>
        </p:nvSpPr>
        <p:spPr>
          <a:xfrm>
            <a:off x="731520" y="2263140"/>
            <a:ext cx="7680960" cy="123110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4000" b="1">
                <a:solidFill>
                  <a:srgbClr val="FFFFFF"/>
                </a:solidFill>
                <a:latin typeface="Segoe UI Light" panose="020B0502040204020203" pitchFamily="34" charset="0"/>
              </a:rPr>
              <a:t>La planificacion de tu fabrica, por fin bajo control.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993FD94-013F-A495-A9E1-90FA9EF8BFE3}"/>
              </a:ext>
            </a:extLst>
          </p:cNvPr>
          <p:cNvSpPr txBox="1"/>
          <p:nvPr/>
        </p:nvSpPr>
        <p:spPr>
          <a:xfrm>
            <a:off x="731520" y="3600450"/>
            <a:ext cx="76809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800">
                <a:solidFill>
                  <a:srgbClr val="5AB4DC"/>
                </a:solidFill>
                <a:latin typeface="Segoe UI" panose="020B0502040204020203" pitchFamily="34" charset="0"/>
              </a:rPr>
              <a:t>Integrado con Sage 200</a:t>
            </a:r>
          </a:p>
        </p:txBody>
      </p:sp>
    </p:spTree>
    <p:extLst>
      <p:ext uri="{BB962C8B-B14F-4D97-AF65-F5344CB8AC3E}">
        <p14:creationId xmlns:p14="http://schemas.microsoft.com/office/powerpoint/2010/main" val="2562055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D627E22-E917-D23F-F050-7588034FE39D}"/>
              </a:ext>
            </a:extLst>
          </p:cNvPr>
          <p:cNvSpPr txBox="1"/>
          <p:nvPr/>
        </p:nvSpPr>
        <p:spPr>
          <a:xfrm>
            <a:off x="731520" y="1028700"/>
            <a:ext cx="768096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2000">
                <a:solidFill>
                  <a:srgbClr val="B0B0B0"/>
                </a:solidFill>
                <a:latin typeface="Segoe UI" panose="020B0502040204020203" pitchFamily="34" charset="0"/>
              </a:rPr>
              <a:t>Tres ideas para toda la sesion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CFCA888-79E7-B94C-6C92-6F5D042FD507}"/>
              </a:ext>
            </a:extLst>
          </p:cNvPr>
          <p:cNvSpPr txBox="1"/>
          <p:nvPr/>
        </p:nvSpPr>
        <p:spPr>
          <a:xfrm>
            <a:off x="731520" y="2057400"/>
            <a:ext cx="7680960" cy="11695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3800" b="1">
                <a:solidFill>
                  <a:srgbClr val="FFFFFF"/>
                </a:solidFill>
                <a:latin typeface="Segoe UI Semibold" panose="020B0702040204020203" pitchFamily="34" charset="0"/>
              </a:rPr>
              <a:t>Simple   .   Conectado   .   A tu medida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1B1F565-E395-0CE4-59A9-AD9635E109C6}"/>
              </a:ext>
            </a:extLst>
          </p:cNvPr>
          <p:cNvSpPr/>
          <p:nvPr/>
        </p:nvSpPr>
        <p:spPr>
          <a:xfrm>
            <a:off x="731520" y="3188970"/>
            <a:ext cx="1828800" cy="50800"/>
          </a:xfrm>
          <a:prstGeom prst="rect">
            <a:avLst/>
          </a:prstGeom>
          <a:solidFill>
            <a:srgbClr val="2878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0906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71E2757-4C6E-2383-B139-CA89243C0351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878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7A6605F-65C8-9108-3D0D-91EF68C78A9F}"/>
              </a:ext>
            </a:extLst>
          </p:cNvPr>
          <p:cNvSpPr txBox="1"/>
          <p:nvPr/>
        </p:nvSpPr>
        <p:spPr>
          <a:xfrm>
            <a:off x="731520" y="822960"/>
            <a:ext cx="7680960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3200" b="1">
                <a:solidFill>
                  <a:srgbClr val="FFFFFF"/>
                </a:solidFill>
                <a:latin typeface="Segoe UI Semibold" panose="020B0702040204020203" pitchFamily="34" charset="0"/>
              </a:rPr>
              <a:t>No cambies nada de lo que ya tienes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682EDFC-A8A0-CE4D-38ED-18EF9AE42C37}"/>
              </a:ext>
            </a:extLst>
          </p:cNvPr>
          <p:cNvSpPr txBox="1"/>
          <p:nvPr/>
        </p:nvSpPr>
        <p:spPr>
          <a:xfrm>
            <a:off x="731520" y="1748790"/>
            <a:ext cx="768096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2000">
                <a:solidFill>
                  <a:srgbClr val="5AB4DC"/>
                </a:solidFill>
                <a:latin typeface="Segoe UI" panose="020B0502040204020203" pitchFamily="34" charset="0"/>
              </a:rPr>
              <a:t>Tus ordenes ya estan en Sage 200.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EA34E1C-8891-E44B-8122-2B9DB1117B8A}"/>
              </a:ext>
            </a:extLst>
          </p:cNvPr>
          <p:cNvSpPr/>
          <p:nvPr/>
        </p:nvSpPr>
        <p:spPr>
          <a:xfrm>
            <a:off x="731520" y="4114800"/>
            <a:ext cx="7680960" cy="565785"/>
          </a:xfrm>
          <a:prstGeom prst="rect">
            <a:avLst/>
          </a:prstGeom>
          <a:solidFill>
            <a:srgbClr val="2B3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1D32236-4E61-BD95-5C21-D0F5ECA5949F}"/>
              </a:ext>
            </a:extLst>
          </p:cNvPr>
          <p:cNvSpPr txBox="1"/>
          <p:nvPr/>
        </p:nvSpPr>
        <p:spPr>
          <a:xfrm>
            <a:off x="960120" y="4216400"/>
            <a:ext cx="722376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500" b="1">
                <a:solidFill>
                  <a:srgbClr val="5AB4DC"/>
                </a:solidFill>
                <a:latin typeface="Segoe UI" panose="020B0502040204020203" pitchFamily="34" charset="0"/>
              </a:rPr>
              <a:t>DEMO EN VIVO   &gt;   Backlog con las ordenes reales de Sage 200</a:t>
            </a:r>
          </a:p>
        </p:txBody>
      </p:sp>
    </p:spTree>
    <p:extLst>
      <p:ext uri="{BB962C8B-B14F-4D97-AF65-F5344CB8AC3E}">
        <p14:creationId xmlns:p14="http://schemas.microsoft.com/office/powerpoint/2010/main" val="3366558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1C2C98E-E5AD-A5DC-0AEB-686EE12FED88}"/>
              </a:ext>
            </a:extLst>
          </p:cNvPr>
          <p:cNvSpPr/>
          <p:nvPr/>
        </p:nvSpPr>
        <p:spPr>
          <a:xfrm>
            <a:off x="3657600" y="1543050"/>
            <a:ext cx="1828800" cy="63500"/>
          </a:xfrm>
          <a:prstGeom prst="rect">
            <a:avLst/>
          </a:prstGeom>
          <a:solidFill>
            <a:srgbClr val="2878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F7BC554-83C5-CEBB-5E0E-36D0C8D0B8C6}"/>
              </a:ext>
            </a:extLst>
          </p:cNvPr>
          <p:cNvSpPr txBox="1"/>
          <p:nvPr/>
        </p:nvSpPr>
        <p:spPr>
          <a:xfrm>
            <a:off x="914400" y="1945831"/>
            <a:ext cx="73152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s-ES" sz="3400" b="1">
                <a:solidFill>
                  <a:srgbClr val="FFFFFF"/>
                </a:solidFill>
                <a:latin typeface="Segoe UI Light" panose="020B0502040204020203" pitchFamily="34" charset="0"/>
              </a:rPr>
              <a:t>Conectado. Cero trabajo doble.</a:t>
            </a:r>
          </a:p>
        </p:txBody>
      </p:sp>
    </p:spTree>
    <p:extLst>
      <p:ext uri="{BB962C8B-B14F-4D97-AF65-F5344CB8AC3E}">
        <p14:creationId xmlns:p14="http://schemas.microsoft.com/office/powerpoint/2010/main" val="1279100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507AEC5-D2DE-DC46-0317-3DCB78AB2E0A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878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41F855B-B975-C436-E28A-300451E69E2E}"/>
              </a:ext>
            </a:extLst>
          </p:cNvPr>
          <p:cNvSpPr txBox="1"/>
          <p:nvPr/>
        </p:nvSpPr>
        <p:spPr>
          <a:xfrm>
            <a:off x="731520" y="822960"/>
            <a:ext cx="7680960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3200" b="1">
                <a:solidFill>
                  <a:srgbClr val="FFFFFF"/>
                </a:solidFill>
                <a:latin typeface="Segoe UI Semibold" panose="020B0702040204020203" pitchFamily="34" charset="0"/>
              </a:rPr>
              <a:t>Y aqui empieza la magia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EE35D99-F975-B5B5-359F-7B2CF9093C2C}"/>
              </a:ext>
            </a:extLst>
          </p:cNvPr>
          <p:cNvSpPr txBox="1"/>
          <p:nvPr/>
        </p:nvSpPr>
        <p:spPr>
          <a:xfrm>
            <a:off x="731520" y="1748790"/>
            <a:ext cx="768096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2000">
                <a:solidFill>
                  <a:srgbClr val="5AB4DC"/>
                </a:solidFill>
                <a:latin typeface="Segoe UI" panose="020B0502040204020203" pitchFamily="34" charset="0"/>
              </a:rPr>
              <a:t>De una lista de ordenes... a un plan real, en segundos.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23D664B-29CF-9D21-0F84-C19501C33196}"/>
              </a:ext>
            </a:extLst>
          </p:cNvPr>
          <p:cNvSpPr txBox="1"/>
          <p:nvPr/>
        </p:nvSpPr>
        <p:spPr>
          <a:xfrm>
            <a:off x="731520" y="2366010"/>
            <a:ext cx="7680960" cy="11695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900">
                <a:solidFill>
                  <a:srgbClr val="B0B0B0"/>
                </a:solidFill>
                <a:latin typeface="Segoe UI" panose="020B0502040204020203" pitchFamily="34" charset="0"/>
              </a:rPr>
              <a:t>1. Seleccionar ordenes y planificar (Express / wizard)
2. El Gantt se llena, ordenado
3. Heatmap: rojos de sobrecarga -&gt; reequilibrar -&gt; verdes
4. Arrastrar un urgente -&gt; todo se recoloca solo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D12AA3C-27FF-F04E-2A6D-A5AFAAFE6FD6}"/>
              </a:ext>
            </a:extLst>
          </p:cNvPr>
          <p:cNvSpPr/>
          <p:nvPr/>
        </p:nvSpPr>
        <p:spPr>
          <a:xfrm>
            <a:off x="731520" y="4114800"/>
            <a:ext cx="7680960" cy="565785"/>
          </a:xfrm>
          <a:prstGeom prst="rect">
            <a:avLst/>
          </a:prstGeom>
          <a:solidFill>
            <a:srgbClr val="2B3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60757B0-B4B9-709B-837C-0CB7112F12AC}"/>
              </a:ext>
            </a:extLst>
          </p:cNvPr>
          <p:cNvSpPr txBox="1"/>
          <p:nvPr/>
        </p:nvSpPr>
        <p:spPr>
          <a:xfrm>
            <a:off x="960120" y="4216400"/>
            <a:ext cx="722376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500" b="1">
                <a:solidFill>
                  <a:srgbClr val="5AB4DC"/>
                </a:solidFill>
                <a:latin typeface="Segoe UI" panose="020B0502040204020203" pitchFamily="34" charset="0"/>
              </a:rPr>
              <a:t>DEMO EN VIVO   &gt;   Planificacion Express -&gt; Gantt -&gt; Heatmap -&gt; arrastrar urgente</a:t>
            </a:r>
          </a:p>
        </p:txBody>
      </p:sp>
    </p:spTree>
    <p:extLst>
      <p:ext uri="{BB962C8B-B14F-4D97-AF65-F5344CB8AC3E}">
        <p14:creationId xmlns:p14="http://schemas.microsoft.com/office/powerpoint/2010/main" val="2757081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BCB2828-61E3-0919-CF3C-E52C30BF2C2F}"/>
              </a:ext>
            </a:extLst>
          </p:cNvPr>
          <p:cNvSpPr/>
          <p:nvPr/>
        </p:nvSpPr>
        <p:spPr>
          <a:xfrm>
            <a:off x="3657600" y="1543050"/>
            <a:ext cx="1828800" cy="63500"/>
          </a:xfrm>
          <a:prstGeom prst="rect">
            <a:avLst/>
          </a:prstGeom>
          <a:solidFill>
            <a:srgbClr val="2878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E9C9243-5BB9-12CE-1EA6-772DA99CC4DE}"/>
              </a:ext>
            </a:extLst>
          </p:cNvPr>
          <p:cNvSpPr txBox="1"/>
          <p:nvPr/>
        </p:nvSpPr>
        <p:spPr>
          <a:xfrm>
            <a:off x="914400" y="1945831"/>
            <a:ext cx="73152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s-ES" sz="3400" b="1">
                <a:solidFill>
                  <a:srgbClr val="FFFFFF"/>
                </a:solidFill>
                <a:latin typeface="Segoe UI Light" panose="020B0502040204020203" pitchFamily="34" charset="0"/>
              </a:rPr>
              <a:t>De horas de Excel... a segundos.</a:t>
            </a:r>
          </a:p>
        </p:txBody>
      </p:sp>
    </p:spTree>
    <p:extLst>
      <p:ext uri="{BB962C8B-B14F-4D97-AF65-F5344CB8AC3E}">
        <p14:creationId xmlns:p14="http://schemas.microsoft.com/office/powerpoint/2010/main" val="3045593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7BEBD0D-603E-60DD-5B35-86D3A29602DF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878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73D6BBA-48C8-DB7A-53EA-4689FF011EAC}"/>
              </a:ext>
            </a:extLst>
          </p:cNvPr>
          <p:cNvSpPr txBox="1"/>
          <p:nvPr/>
        </p:nvSpPr>
        <p:spPr>
          <a:xfrm>
            <a:off x="731520" y="822960"/>
            <a:ext cx="7680960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3200" b="1">
                <a:solidFill>
                  <a:srgbClr val="FFFFFF"/>
                </a:solidFill>
                <a:latin typeface="Segoe UI Semibold" panose="020B0702040204020203" pitchFamily="34" charset="0"/>
              </a:rPr>
              <a:t>Tu eliges como planificar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2BA5BD5-7411-2B10-7D00-02B484D6B658}"/>
              </a:ext>
            </a:extLst>
          </p:cNvPr>
          <p:cNvSpPr txBox="1"/>
          <p:nvPr/>
        </p:nvSpPr>
        <p:spPr>
          <a:xfrm>
            <a:off x="731520" y="1748790"/>
            <a:ext cx="7680960" cy="11695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900">
                <a:solidFill>
                  <a:srgbClr val="B0B0B0"/>
                </a:solidFill>
                <a:latin typeface="Segoe UI" panose="020B0502040204020203" pitchFamily="34" charset="0"/>
              </a:rPr>
              <a:t>Automatica hacia adelante (desde hoy) o hacia atras (desde la entrega)
Manual, a tu ritmo
Por reglas de prioridad
Comparas metodos y te quedas con el mejor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BF5CEC7-0C5F-0587-14F3-4D341B61F997}"/>
              </a:ext>
            </a:extLst>
          </p:cNvPr>
          <p:cNvSpPr/>
          <p:nvPr/>
        </p:nvSpPr>
        <p:spPr>
          <a:xfrm>
            <a:off x="731520" y="4114800"/>
            <a:ext cx="7680960" cy="565785"/>
          </a:xfrm>
          <a:prstGeom prst="rect">
            <a:avLst/>
          </a:prstGeom>
          <a:solidFill>
            <a:srgbClr val="2B3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456AA46-ABB6-8514-F0F9-E48E9EF78D8A}"/>
              </a:ext>
            </a:extLst>
          </p:cNvPr>
          <p:cNvSpPr txBox="1"/>
          <p:nvPr/>
        </p:nvSpPr>
        <p:spPr>
          <a:xfrm>
            <a:off x="960120" y="4216400"/>
            <a:ext cx="722376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500" b="1">
                <a:solidFill>
                  <a:srgbClr val="5AB4DC"/>
                </a:solidFill>
                <a:latin typeface="Segoe UI" panose="020B0502040204020203" pitchFamily="34" charset="0"/>
              </a:rPr>
              <a:t>DEMO EN VIVO   &gt;   Wizard con distintos modos / comparativa de metodos</a:t>
            </a:r>
          </a:p>
        </p:txBody>
      </p:sp>
    </p:spTree>
    <p:extLst>
      <p:ext uri="{BB962C8B-B14F-4D97-AF65-F5344CB8AC3E}">
        <p14:creationId xmlns:p14="http://schemas.microsoft.com/office/powerpoint/2010/main" val="1119143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CD61C81-FEED-D888-D1C3-10CB6F44F1C7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878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6E1AE9C-8D0F-801B-2386-1CA0ED3494CF}"/>
              </a:ext>
            </a:extLst>
          </p:cNvPr>
          <p:cNvSpPr txBox="1"/>
          <p:nvPr/>
        </p:nvSpPr>
        <p:spPr>
          <a:xfrm>
            <a:off x="731520" y="822960"/>
            <a:ext cx="7680960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3200" b="1">
                <a:solidFill>
                  <a:srgbClr val="FFFFFF"/>
                </a:solidFill>
                <a:latin typeface="Segoe UI Semibold" panose="020B0702040204020203" pitchFamily="34" charset="0"/>
              </a:rPr>
              <a:t>Maquinas, centros... y personas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4BCB8B9-5AE7-B78B-8D6F-06C7DAF97922}"/>
              </a:ext>
            </a:extLst>
          </p:cNvPr>
          <p:cNvSpPr txBox="1"/>
          <p:nvPr/>
        </p:nvSpPr>
        <p:spPr>
          <a:xfrm>
            <a:off x="731520" y="1748790"/>
            <a:ext cx="768096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2000">
                <a:solidFill>
                  <a:srgbClr val="5AB4DC"/>
                </a:solidFill>
                <a:latin typeface="Segoe UI" panose="020B0502040204020203" pitchFamily="34" charset="0"/>
              </a:rPr>
              <a:t>[MODULAR]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FD2F9A4-8DDA-DF74-CADE-C53E990135B6}"/>
              </a:ext>
            </a:extLst>
          </p:cNvPr>
          <p:cNvSpPr txBox="1"/>
          <p:nvPr/>
        </p:nvSpPr>
        <p:spPr>
          <a:xfrm>
            <a:off x="731520" y="2366010"/>
            <a:ext cx="7680960" cy="5847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900">
                <a:solidFill>
                  <a:srgbClr val="B0B0B0"/>
                </a:solidFill>
                <a:latin typeface="Segoe UI" panose="020B0502040204020203" pitchFamily="34" charset="0"/>
              </a:rPr>
              <a:t>Capacidad finita real: centros, maquinas y operarios con habilidades.
El plan sabe quien puede hacer que.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A3101E7-0AD3-5EE1-37E6-A29DF9C434D9}"/>
              </a:ext>
            </a:extLst>
          </p:cNvPr>
          <p:cNvSpPr/>
          <p:nvPr/>
        </p:nvSpPr>
        <p:spPr>
          <a:xfrm>
            <a:off x="731520" y="4114800"/>
            <a:ext cx="7680960" cy="565785"/>
          </a:xfrm>
          <a:prstGeom prst="rect">
            <a:avLst/>
          </a:prstGeom>
          <a:solidFill>
            <a:srgbClr val="2B3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1FA3BEF-6D92-8312-5955-3E5C9552978B}"/>
              </a:ext>
            </a:extLst>
          </p:cNvPr>
          <p:cNvSpPr txBox="1"/>
          <p:nvPr/>
        </p:nvSpPr>
        <p:spPr>
          <a:xfrm>
            <a:off x="960120" y="4216400"/>
            <a:ext cx="722376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500" b="1">
                <a:solidFill>
                  <a:srgbClr val="5AB4DC"/>
                </a:solidFill>
                <a:latin typeface="Segoe UI" panose="020B0502040204020203" pitchFamily="34" charset="0"/>
              </a:rPr>
              <a:t>DEMO EN VIVO   &gt;   Capacidad finita de operarios / habilidades / heatmap por operario</a:t>
            </a:r>
          </a:p>
        </p:txBody>
      </p:sp>
    </p:spTree>
    <p:extLst>
      <p:ext uri="{BB962C8B-B14F-4D97-AF65-F5344CB8AC3E}">
        <p14:creationId xmlns:p14="http://schemas.microsoft.com/office/powerpoint/2010/main" val="3302285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F9456B2-4584-9361-F6AB-BAB0A5BD654B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878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86E9403-0A59-4637-8F7F-1C116F6019DA}"/>
              </a:ext>
            </a:extLst>
          </p:cNvPr>
          <p:cNvSpPr txBox="1"/>
          <p:nvPr/>
        </p:nvSpPr>
        <p:spPr>
          <a:xfrm>
            <a:off x="731520" y="822960"/>
            <a:ext cx="7680960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3200" b="1">
                <a:solidFill>
                  <a:srgbClr val="FFFFFF"/>
                </a:solidFill>
                <a:latin typeface="Segoe UI Semibold" panose="020B0702040204020203" pitchFamily="34" charset="0"/>
              </a:rPr>
              <a:t>Agrupa lo que va junto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909EA18-A99D-8EDE-FB82-4B1ED03C8DC5}"/>
              </a:ext>
            </a:extLst>
          </p:cNvPr>
          <p:cNvSpPr txBox="1"/>
          <p:nvPr/>
        </p:nvSpPr>
        <p:spPr>
          <a:xfrm>
            <a:off x="731520" y="1748790"/>
            <a:ext cx="768096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2000">
                <a:solidFill>
                  <a:srgbClr val="5AB4DC"/>
                </a:solidFill>
                <a:latin typeface="Segoe UI" panose="020B0502040204020203" pitchFamily="34" charset="0"/>
              </a:rPr>
              <a:t>[MODULAR]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DE9D433-44DA-988B-9AD1-C8FA3F0A4701}"/>
              </a:ext>
            </a:extLst>
          </p:cNvPr>
          <p:cNvSpPr txBox="1"/>
          <p:nvPr/>
        </p:nvSpPr>
        <p:spPr>
          <a:xfrm>
            <a:off x="731520" y="2366010"/>
            <a:ext cx="7680960" cy="5847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900">
                <a:solidFill>
                  <a:srgbClr val="B0B0B0"/>
                </a:solidFill>
                <a:latin typeface="Segoe UI" panose="020B0502040204020203" pitchFamily="34" charset="0"/>
              </a:rPr>
              <a:t>Pintura por color, hornada de horno...
Agrupa operaciones en un lote y planificalas juntas.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73EF602-6448-3EEC-EE5F-D947A8E6C49E}"/>
              </a:ext>
            </a:extLst>
          </p:cNvPr>
          <p:cNvSpPr/>
          <p:nvPr/>
        </p:nvSpPr>
        <p:spPr>
          <a:xfrm>
            <a:off x="731520" y="4114800"/>
            <a:ext cx="7680960" cy="565785"/>
          </a:xfrm>
          <a:prstGeom prst="rect">
            <a:avLst/>
          </a:prstGeom>
          <a:solidFill>
            <a:srgbClr val="2B3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EDF6F60-F573-1DA2-4EBE-3E834C0C76FE}"/>
              </a:ext>
            </a:extLst>
          </p:cNvPr>
          <p:cNvSpPr txBox="1"/>
          <p:nvPr/>
        </p:nvSpPr>
        <p:spPr>
          <a:xfrm>
            <a:off x="960120" y="4216400"/>
            <a:ext cx="722376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500" b="1">
                <a:solidFill>
                  <a:srgbClr val="5AB4DC"/>
                </a:solidFill>
                <a:latin typeface="Segoe UI" panose="020B0502040204020203" pitchFamily="34" charset="0"/>
              </a:rPr>
              <a:t>DEMO EN VIVO   &gt;   Crear un lote en el Gantt</a:t>
            </a:r>
          </a:p>
        </p:txBody>
      </p:sp>
    </p:spTree>
    <p:extLst>
      <p:ext uri="{BB962C8B-B14F-4D97-AF65-F5344CB8AC3E}">
        <p14:creationId xmlns:p14="http://schemas.microsoft.com/office/powerpoint/2010/main" val="1963372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2E1C1F5-8BD8-A901-ECB9-99CE282BC9B6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878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9CC2CCB-3F50-3E28-6582-1CABB4A625FF}"/>
              </a:ext>
            </a:extLst>
          </p:cNvPr>
          <p:cNvSpPr txBox="1"/>
          <p:nvPr/>
        </p:nvSpPr>
        <p:spPr>
          <a:xfrm>
            <a:off x="731520" y="822960"/>
            <a:ext cx="7680960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3200" b="1">
                <a:solidFill>
                  <a:srgbClr val="FFFFFF"/>
                </a:solidFill>
                <a:latin typeface="Segoe UI Semibold" panose="020B0702040204020203" pitchFamily="34" charset="0"/>
              </a:rPr>
              <a:t>Control de moldes y utillajes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7EAA387-6B7E-2598-9C67-BE3494EE9207}"/>
              </a:ext>
            </a:extLst>
          </p:cNvPr>
          <p:cNvSpPr txBox="1"/>
          <p:nvPr/>
        </p:nvSpPr>
        <p:spPr>
          <a:xfrm>
            <a:off x="731520" y="1748790"/>
            <a:ext cx="768096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2000">
                <a:solidFill>
                  <a:srgbClr val="5AB4DC"/>
                </a:solidFill>
                <a:latin typeface="Segoe UI" panose="020B0502040204020203" pitchFamily="34" charset="0"/>
              </a:rPr>
              <a:t>[MODULAR]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6782764-7BC4-96FF-BBB6-7CF9703BFFFE}"/>
              </a:ext>
            </a:extLst>
          </p:cNvPr>
          <p:cNvSpPr txBox="1"/>
          <p:nvPr/>
        </p:nvSpPr>
        <p:spPr>
          <a:xfrm>
            <a:off x="731520" y="2366010"/>
            <a:ext cx="768096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900">
                <a:solidFill>
                  <a:srgbClr val="B0B0B0"/>
                </a:solidFill>
                <a:latin typeface="Segoe UI" panose="020B0502040204020203" pitchFamily="34" charset="0"/>
              </a:rPr>
              <a:t>Que molde esta en que maquina, su estado y su mantenimiento.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33ED62F-9055-4F7C-649B-A2B481B4908B}"/>
              </a:ext>
            </a:extLst>
          </p:cNvPr>
          <p:cNvSpPr/>
          <p:nvPr/>
        </p:nvSpPr>
        <p:spPr>
          <a:xfrm>
            <a:off x="731520" y="4114800"/>
            <a:ext cx="7680960" cy="565785"/>
          </a:xfrm>
          <a:prstGeom prst="rect">
            <a:avLst/>
          </a:prstGeom>
          <a:solidFill>
            <a:srgbClr val="2B3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F8BE4A9-67EB-E07A-CF2C-C03E131A36D2}"/>
              </a:ext>
            </a:extLst>
          </p:cNvPr>
          <p:cNvSpPr txBox="1"/>
          <p:nvPr/>
        </p:nvSpPr>
        <p:spPr>
          <a:xfrm>
            <a:off x="960120" y="4216400"/>
            <a:ext cx="722376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500" b="1">
                <a:solidFill>
                  <a:srgbClr val="5AB4DC"/>
                </a:solidFill>
                <a:latin typeface="Segoe UI" panose="020B0502040204020203" pitchFamily="34" charset="0"/>
              </a:rPr>
              <a:t>DEMO EN VIVO   &gt;   Gestion de moldes / utillajes</a:t>
            </a:r>
          </a:p>
        </p:txBody>
      </p:sp>
    </p:spTree>
    <p:extLst>
      <p:ext uri="{BB962C8B-B14F-4D97-AF65-F5344CB8AC3E}">
        <p14:creationId xmlns:p14="http://schemas.microsoft.com/office/powerpoint/2010/main" val="3166780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8E9F593-8138-7D41-B44E-101D48138209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878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7E663F5-898B-CFE2-60DE-6A24D11C1DA1}"/>
              </a:ext>
            </a:extLst>
          </p:cNvPr>
          <p:cNvSpPr txBox="1"/>
          <p:nvPr/>
        </p:nvSpPr>
        <p:spPr>
          <a:xfrm>
            <a:off x="731520" y="822960"/>
            <a:ext cx="7680960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3200" b="1">
                <a:solidFill>
                  <a:srgbClr val="FFFFFF"/>
                </a:solidFill>
                <a:latin typeface="Segoe UI Semibold" panose="020B0702040204020203" pitchFamily="34" charset="0"/>
              </a:rPr>
              <a:t>El plan mira tambien el material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C941603-41D4-C2D8-1D0E-57B1EF3CFCE2}"/>
              </a:ext>
            </a:extLst>
          </p:cNvPr>
          <p:cNvSpPr txBox="1"/>
          <p:nvPr/>
        </p:nvSpPr>
        <p:spPr>
          <a:xfrm>
            <a:off x="731520" y="1748790"/>
            <a:ext cx="768096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2000">
                <a:solidFill>
                  <a:srgbClr val="5AB4DC"/>
                </a:solidFill>
                <a:latin typeface="Segoe UI" panose="020B0502040204020203" pitchFamily="34" charset="0"/>
              </a:rPr>
              <a:t>[MODULAR]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DCFF8FF-BFA8-FB98-F1AC-E3D0790F20FC}"/>
              </a:ext>
            </a:extLst>
          </p:cNvPr>
          <p:cNvSpPr txBox="1"/>
          <p:nvPr/>
        </p:nvSpPr>
        <p:spPr>
          <a:xfrm>
            <a:off x="731520" y="2366010"/>
            <a:ext cx="7680960" cy="5847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900">
                <a:solidFill>
                  <a:srgbClr val="B0B0B0"/>
                </a:solidFill>
                <a:latin typeface="Segoe UI" panose="020B0502040204020203" pitchFamily="34" charset="0"/>
              </a:rPr>
              <a:t>Stock proyectado y MRP enlazado al plan:
planificas sabiendo si tendras material.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D7AE624-A290-1276-12A8-00D05E53BEB9}"/>
              </a:ext>
            </a:extLst>
          </p:cNvPr>
          <p:cNvSpPr/>
          <p:nvPr/>
        </p:nvSpPr>
        <p:spPr>
          <a:xfrm>
            <a:off x="731520" y="4114800"/>
            <a:ext cx="7680960" cy="565785"/>
          </a:xfrm>
          <a:prstGeom prst="rect">
            <a:avLst/>
          </a:prstGeom>
          <a:solidFill>
            <a:srgbClr val="2B3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3D90E56-4BE8-F1A7-5CBA-7C15FBDC56F2}"/>
              </a:ext>
            </a:extLst>
          </p:cNvPr>
          <p:cNvSpPr txBox="1"/>
          <p:nvPr/>
        </p:nvSpPr>
        <p:spPr>
          <a:xfrm>
            <a:off x="960120" y="4216400"/>
            <a:ext cx="722376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500" b="1">
                <a:solidFill>
                  <a:srgbClr val="5AB4DC"/>
                </a:solidFill>
                <a:latin typeface="Segoe UI" panose="020B0502040204020203" pitchFamily="34" charset="0"/>
              </a:rPr>
              <a:t>DEMO EN VIVO   &gt;   Modulo Plan Stock / MRP</a:t>
            </a:r>
          </a:p>
        </p:txBody>
      </p:sp>
    </p:spTree>
    <p:extLst>
      <p:ext uri="{BB962C8B-B14F-4D97-AF65-F5344CB8AC3E}">
        <p14:creationId xmlns:p14="http://schemas.microsoft.com/office/powerpoint/2010/main" val="2778288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5381ACD-9751-B498-F4AA-74853BC69DFC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878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5F1BCAE-1BC4-B224-976F-2E5158ED724C}"/>
              </a:ext>
            </a:extLst>
          </p:cNvPr>
          <p:cNvSpPr txBox="1"/>
          <p:nvPr/>
        </p:nvSpPr>
        <p:spPr>
          <a:xfrm>
            <a:off x="731520" y="822960"/>
            <a:ext cx="7680960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3200" b="1">
                <a:solidFill>
                  <a:srgbClr val="FFFFFF"/>
                </a:solidFill>
                <a:latin typeface="Segoe UI Semibold" panose="020B0702040204020203" pitchFamily="34" charset="0"/>
              </a:rPr>
              <a:t>No es un traje de talla unica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B9FC3F4-66A2-5202-F4F3-649EDB940EE7}"/>
              </a:ext>
            </a:extLst>
          </p:cNvPr>
          <p:cNvSpPr txBox="1"/>
          <p:nvPr/>
        </p:nvSpPr>
        <p:spPr>
          <a:xfrm>
            <a:off x="731520" y="1748790"/>
            <a:ext cx="7680960" cy="87716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900">
                <a:solidFill>
                  <a:srgbClr val="B0B0B0"/>
                </a:solidFill>
                <a:latin typeface="Segoe UI" panose="020B0502040204020203" pitchFamily="34" charset="0"/>
              </a:rPr>
              <a:t>Campos propios que Sage no tiene
Cada usuario ve la pantalla a su manera
Gantt, Kanban o analisis: el mismo plan, como tu lo quieras ver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76ADC28-B076-5E2E-D398-602F7CF3D8D7}"/>
              </a:ext>
            </a:extLst>
          </p:cNvPr>
          <p:cNvSpPr/>
          <p:nvPr/>
        </p:nvSpPr>
        <p:spPr>
          <a:xfrm>
            <a:off x="731520" y="4114800"/>
            <a:ext cx="7680960" cy="565785"/>
          </a:xfrm>
          <a:prstGeom prst="rect">
            <a:avLst/>
          </a:prstGeom>
          <a:solidFill>
            <a:srgbClr val="2B3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B7C16E6-1F1F-812D-6621-5F6D40729EE3}"/>
              </a:ext>
            </a:extLst>
          </p:cNvPr>
          <p:cNvSpPr txBox="1"/>
          <p:nvPr/>
        </p:nvSpPr>
        <p:spPr>
          <a:xfrm>
            <a:off x="960120" y="4216400"/>
            <a:ext cx="722376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500" b="1">
                <a:solidFill>
                  <a:srgbClr val="5AB4DC"/>
                </a:solidFill>
                <a:latin typeface="Segoe UI" panose="020B0502040204020203" pitchFamily="34" charset="0"/>
              </a:rPr>
              <a:t>DEMO EN VIVO   &gt;   Campos personalizados + layout por usuario + cambio de vista (Kanban / dashboard)</a:t>
            </a:r>
          </a:p>
        </p:txBody>
      </p:sp>
    </p:spTree>
    <p:extLst>
      <p:ext uri="{BB962C8B-B14F-4D97-AF65-F5344CB8AC3E}">
        <p14:creationId xmlns:p14="http://schemas.microsoft.com/office/powerpoint/2010/main" val="2280108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AF75DEA-9DDC-426C-C0CF-BA14B893E502}"/>
              </a:ext>
            </a:extLst>
          </p:cNvPr>
          <p:cNvSpPr/>
          <p:nvPr/>
        </p:nvSpPr>
        <p:spPr>
          <a:xfrm>
            <a:off x="3657600" y="1543050"/>
            <a:ext cx="1828800" cy="63500"/>
          </a:xfrm>
          <a:prstGeom prst="rect">
            <a:avLst/>
          </a:prstGeom>
          <a:solidFill>
            <a:srgbClr val="2878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7F3EB56-FDEB-149D-7D64-6EEDC2B91B2E}"/>
              </a:ext>
            </a:extLst>
          </p:cNvPr>
          <p:cNvSpPr txBox="1"/>
          <p:nvPr/>
        </p:nvSpPr>
        <p:spPr>
          <a:xfrm>
            <a:off x="914400" y="1945831"/>
            <a:ext cx="73152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s-ES" sz="3400" b="1">
                <a:solidFill>
                  <a:srgbClr val="FFFFFF"/>
                </a:solidFill>
                <a:latin typeface="Segoe UI Light" panose="020B0502040204020203" pitchFamily="34" charset="0"/>
              </a:rPr>
              <a:t>Crece con vosotros.</a:t>
            </a:r>
          </a:p>
        </p:txBody>
      </p:sp>
    </p:spTree>
    <p:extLst>
      <p:ext uri="{BB962C8B-B14F-4D97-AF65-F5344CB8AC3E}">
        <p14:creationId xmlns:p14="http://schemas.microsoft.com/office/powerpoint/2010/main" val="1371108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7F4A77B-6FF1-B8B2-9853-2F0AEA19EA66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878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C0DC600-42B8-3CEA-22CA-A9300AD62815}"/>
              </a:ext>
            </a:extLst>
          </p:cNvPr>
          <p:cNvSpPr txBox="1"/>
          <p:nvPr/>
        </p:nvSpPr>
        <p:spPr>
          <a:xfrm>
            <a:off x="731520" y="822960"/>
            <a:ext cx="7680960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3200" b="1">
                <a:solidFill>
                  <a:srgbClr val="FFFFFF"/>
                </a:solidFill>
                <a:latin typeface="Segoe UI Semibold" panose="020B0702040204020203" pitchFamily="34" charset="0"/>
              </a:rPr>
              <a:t>Y si algo sale mal...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287D450-7588-8B40-9C8F-9195289DEC4C}"/>
              </a:ext>
            </a:extLst>
          </p:cNvPr>
          <p:cNvSpPr txBox="1"/>
          <p:nvPr/>
        </p:nvSpPr>
        <p:spPr>
          <a:xfrm>
            <a:off x="731520" y="1748790"/>
            <a:ext cx="7680960" cy="87716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900">
                <a:solidFill>
                  <a:srgbClr val="B0B0B0"/>
                </a:solidFill>
                <a:latin typeface="Segoe UI" panose="020B0502040204020203" pitchFamily="34" charset="0"/>
              </a:rPr>
              <a:t>Alertas automaticas
Puntos de restauracion del plan
Deshacer / rehacer el plan entero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4C771FD-6C75-80AB-3F87-BAF64DFB6BCF}"/>
              </a:ext>
            </a:extLst>
          </p:cNvPr>
          <p:cNvSpPr/>
          <p:nvPr/>
        </p:nvSpPr>
        <p:spPr>
          <a:xfrm>
            <a:off x="731520" y="4114800"/>
            <a:ext cx="7680960" cy="565785"/>
          </a:xfrm>
          <a:prstGeom prst="rect">
            <a:avLst/>
          </a:prstGeom>
          <a:solidFill>
            <a:srgbClr val="2B3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4FFAFC6-08CF-4140-4EDD-04AD6B713E1D}"/>
              </a:ext>
            </a:extLst>
          </p:cNvPr>
          <p:cNvSpPr txBox="1"/>
          <p:nvPr/>
        </p:nvSpPr>
        <p:spPr>
          <a:xfrm>
            <a:off x="960120" y="4216400"/>
            <a:ext cx="722376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500" b="1">
                <a:solidFill>
                  <a:srgbClr val="5AB4DC"/>
                </a:solidFill>
                <a:latin typeface="Segoe UI" panose="020B0502040204020203" pitchFamily="34" charset="0"/>
              </a:rPr>
              <a:t>DEMO EN VIVO   &gt;   Alertas + snapshot/restaurar + undo del plan</a:t>
            </a:r>
          </a:p>
        </p:txBody>
      </p:sp>
    </p:spTree>
    <p:extLst>
      <p:ext uri="{BB962C8B-B14F-4D97-AF65-F5344CB8AC3E}">
        <p14:creationId xmlns:p14="http://schemas.microsoft.com/office/powerpoint/2010/main" val="2338869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88DE0C7-3772-71F4-C0B6-77597A25EB84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878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D5AE969-50D7-3851-8FDF-AB3A9794CDD9}"/>
              </a:ext>
            </a:extLst>
          </p:cNvPr>
          <p:cNvSpPr txBox="1"/>
          <p:nvPr/>
        </p:nvSpPr>
        <p:spPr>
          <a:xfrm>
            <a:off x="731520" y="822960"/>
            <a:ext cx="7680960" cy="4924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3200" b="1">
                <a:solidFill>
                  <a:srgbClr val="FFFFFF"/>
                </a:solidFill>
                <a:latin typeface="Segoe UI Semibold" panose="020B0702040204020203" pitchFamily="34" charset="0"/>
              </a:rPr>
              <a:t>Ves la foto completa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6C40684-F816-ABD1-A06F-3CAF9C9E5B99}"/>
              </a:ext>
            </a:extLst>
          </p:cNvPr>
          <p:cNvSpPr txBox="1"/>
          <p:nvPr/>
        </p:nvSpPr>
        <p:spPr>
          <a:xfrm>
            <a:off x="731520" y="1748790"/>
            <a:ext cx="768096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2000">
                <a:solidFill>
                  <a:srgbClr val="5AB4DC"/>
                </a:solidFill>
                <a:latin typeface="Segoe UI" panose="020B0502040204020203" pitchFamily="34" charset="0"/>
              </a:rPr>
              <a:t>[MODULAR]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A10EF19-FA00-21F2-B0D9-9FF9290C9C3D}"/>
              </a:ext>
            </a:extLst>
          </p:cNvPr>
          <p:cNvSpPr txBox="1"/>
          <p:nvPr/>
        </p:nvSpPr>
        <p:spPr>
          <a:xfrm>
            <a:off x="731520" y="2366010"/>
            <a:ext cx="7680960" cy="5847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900">
                <a:solidFill>
                  <a:srgbClr val="B0B0B0"/>
                </a:solidFill>
                <a:latin typeface="Segoe UI" panose="020B0502040204020203" pitchFamily="34" charset="0"/>
              </a:rPr>
              <a:t>Dashboard con graficos: carga, cumplimiento de entregas, ocupacion de centros.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3AACEE2-C5CF-2D0F-DA6A-A913C2EC00B6}"/>
              </a:ext>
            </a:extLst>
          </p:cNvPr>
          <p:cNvSpPr/>
          <p:nvPr/>
        </p:nvSpPr>
        <p:spPr>
          <a:xfrm>
            <a:off x="731520" y="4114800"/>
            <a:ext cx="7680960" cy="565785"/>
          </a:xfrm>
          <a:prstGeom prst="rect">
            <a:avLst/>
          </a:prstGeom>
          <a:solidFill>
            <a:srgbClr val="2B33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E1FF39F-3948-D8B4-7299-BBE6340B20AA}"/>
              </a:ext>
            </a:extLst>
          </p:cNvPr>
          <p:cNvSpPr txBox="1"/>
          <p:nvPr/>
        </p:nvSpPr>
        <p:spPr>
          <a:xfrm>
            <a:off x="960120" y="4216400"/>
            <a:ext cx="722376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500" b="1">
                <a:solidFill>
                  <a:srgbClr val="5AB4DC"/>
                </a:solidFill>
                <a:latin typeface="Segoe UI" panose="020B0502040204020203" pitchFamily="34" charset="0"/>
              </a:rPr>
              <a:t>DEMO EN VIVO   &gt;   Dashboard de analisis del plan</a:t>
            </a:r>
          </a:p>
        </p:txBody>
      </p:sp>
    </p:spTree>
    <p:extLst>
      <p:ext uri="{BB962C8B-B14F-4D97-AF65-F5344CB8AC3E}">
        <p14:creationId xmlns:p14="http://schemas.microsoft.com/office/powerpoint/2010/main" val="3004019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A92B475-5631-448A-CF17-43F34435B3C2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878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B1E952C-9505-10E4-E056-649794F49A4F}"/>
              </a:ext>
            </a:extLst>
          </p:cNvPr>
          <p:cNvSpPr txBox="1"/>
          <p:nvPr/>
        </p:nvSpPr>
        <p:spPr>
          <a:xfrm>
            <a:off x="731520" y="822960"/>
            <a:ext cx="7680960" cy="92333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3000" b="1">
                <a:solidFill>
                  <a:srgbClr val="FFFFFF"/>
                </a:solidFill>
                <a:latin typeface="Segoe UI Semibold" panose="020B0702040204020203" pitchFamily="34" charset="0"/>
              </a:rPr>
              <a:t>No es un gasto. Es una inversion que se paga sola.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6DA67F2-7E52-06A3-E238-C5222682E2F7}"/>
              </a:ext>
            </a:extLst>
          </p:cNvPr>
          <p:cNvSpPr txBox="1"/>
          <p:nvPr/>
        </p:nvSpPr>
        <p:spPr>
          <a:xfrm>
            <a:off x="731520" y="2160270"/>
            <a:ext cx="768096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2200" b="1">
                <a:solidFill>
                  <a:srgbClr val="5AB4DC"/>
                </a:solidFill>
                <a:latin typeface="Segoe UI" panose="020B0502040204020203" pitchFamily="34" charset="0"/>
              </a:rPr>
              <a:t>Horas de planificacion  -&gt;  minutos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D5C00CD-E0B2-3455-AB4C-556EE30E3D68}"/>
              </a:ext>
            </a:extLst>
          </p:cNvPr>
          <p:cNvSpPr txBox="1"/>
          <p:nvPr/>
        </p:nvSpPr>
        <p:spPr>
          <a:xfrm>
            <a:off x="731520" y="2880360"/>
            <a:ext cx="768096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2200" b="1">
                <a:solidFill>
                  <a:srgbClr val="5AB4DC"/>
                </a:solidFill>
                <a:latin typeface="Segoe UI" panose="020B0502040204020203" pitchFamily="34" charset="0"/>
              </a:rPr>
              <a:t>Mas entregas a tiempo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82F6751-4914-2514-A594-9289EE7853EE}"/>
              </a:ext>
            </a:extLst>
          </p:cNvPr>
          <p:cNvSpPr txBox="1"/>
          <p:nvPr/>
        </p:nvSpPr>
        <p:spPr>
          <a:xfrm>
            <a:off x="731520" y="3600450"/>
            <a:ext cx="768096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2200" b="1">
                <a:solidFill>
                  <a:srgbClr val="5AB4DC"/>
                </a:solidFill>
                <a:latin typeface="Segoe UI" panose="020B0502040204020203" pitchFamily="34" charset="0"/>
              </a:rPr>
              <a:t>Maquinas y personas mejor aprovechadas</a:t>
            </a:r>
          </a:p>
        </p:txBody>
      </p:sp>
    </p:spTree>
    <p:extLst>
      <p:ext uri="{BB962C8B-B14F-4D97-AF65-F5344CB8AC3E}">
        <p14:creationId xmlns:p14="http://schemas.microsoft.com/office/powerpoint/2010/main" val="771193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8E2CC6F-28A7-4D1D-948F-9A2A2533BD86}"/>
              </a:ext>
            </a:extLst>
          </p:cNvPr>
          <p:cNvSpPr/>
          <p:nvPr/>
        </p:nvSpPr>
        <p:spPr>
          <a:xfrm>
            <a:off x="3657600" y="1543050"/>
            <a:ext cx="1828800" cy="63500"/>
          </a:xfrm>
          <a:prstGeom prst="rect">
            <a:avLst/>
          </a:prstGeom>
          <a:solidFill>
            <a:srgbClr val="2878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A91E0C6-3DBF-7EAA-D8E8-95487A8E2501}"/>
              </a:ext>
            </a:extLst>
          </p:cNvPr>
          <p:cNvSpPr txBox="1"/>
          <p:nvPr/>
        </p:nvSpPr>
        <p:spPr>
          <a:xfrm>
            <a:off x="914400" y="1945831"/>
            <a:ext cx="73152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s-ES" sz="3400" b="1">
                <a:solidFill>
                  <a:srgbClr val="FFFFFF"/>
                </a:solidFill>
                <a:latin typeface="Segoe UI Light" panose="020B0502040204020203" pitchFamily="34" charset="0"/>
              </a:rPr>
              <a:t>Imagina tu proximo lunes.</a:t>
            </a:r>
          </a:p>
        </p:txBody>
      </p:sp>
    </p:spTree>
    <p:extLst>
      <p:ext uri="{BB962C8B-B14F-4D97-AF65-F5344CB8AC3E}">
        <p14:creationId xmlns:p14="http://schemas.microsoft.com/office/powerpoint/2010/main" val="2431381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2BC3586-B134-BCD3-65EC-0C255F2D7B0D}"/>
              </a:ext>
            </a:extLst>
          </p:cNvPr>
          <p:cNvSpPr/>
          <p:nvPr/>
        </p:nvSpPr>
        <p:spPr>
          <a:xfrm>
            <a:off x="731520" y="1954530"/>
            <a:ext cx="914400" cy="76200"/>
          </a:xfrm>
          <a:prstGeom prst="rect">
            <a:avLst/>
          </a:prstGeom>
          <a:solidFill>
            <a:srgbClr val="2878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946BB59-068C-EE5F-2082-D2214B9C76F5}"/>
              </a:ext>
            </a:extLst>
          </p:cNvPr>
          <p:cNvSpPr txBox="1"/>
          <p:nvPr/>
        </p:nvSpPr>
        <p:spPr>
          <a:xfrm>
            <a:off x="731520" y="2160270"/>
            <a:ext cx="7680960" cy="5847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3800" b="1">
                <a:solidFill>
                  <a:srgbClr val="FFFFFF"/>
                </a:solidFill>
                <a:latin typeface="Segoe UI Light" panose="020B0502040204020203" pitchFamily="34" charset="0"/>
              </a:rPr>
              <a:t>Hablemos de tu fabrica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35ABA10-463E-A75B-4E5C-6DFCA7085F23}"/>
              </a:ext>
            </a:extLst>
          </p:cNvPr>
          <p:cNvSpPr txBox="1"/>
          <p:nvPr/>
        </p:nvSpPr>
        <p:spPr>
          <a:xfrm>
            <a:off x="731520" y="3291840"/>
            <a:ext cx="76809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 sz="1800">
                <a:solidFill>
                  <a:srgbClr val="5AB4DC"/>
                </a:solidFill>
                <a:latin typeface="Segoe UI" panose="020B0502040204020203" pitchFamily="34" charset="0"/>
              </a:rPr>
              <a:t>El siguiente paso: verlo con vuestros propios datos.</a:t>
            </a:r>
          </a:p>
        </p:txBody>
      </p:sp>
    </p:spTree>
    <p:extLst>
      <p:ext uri="{BB962C8B-B14F-4D97-AF65-F5344CB8AC3E}">
        <p14:creationId xmlns:p14="http://schemas.microsoft.com/office/powerpoint/2010/main" val="11774608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1082</Words>
  <Application>Microsoft Office PowerPoint</Application>
  <PresentationFormat>Presentación en pantalla (16:9)</PresentationFormat>
  <Paragraphs>86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Segoe UI</vt:lpstr>
      <vt:lpstr>Segoe UI Light</vt:lpstr>
      <vt:lpstr>Segoe UI Semibold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Guillem Parera Ruiz</dc:creator>
  <cp:lastModifiedBy>Guillem Parera Ruiz</cp:lastModifiedBy>
  <cp:revision>1</cp:revision>
  <dcterms:created xsi:type="dcterms:W3CDTF">2026-06-29T21:40:52Z</dcterms:created>
  <dcterms:modified xsi:type="dcterms:W3CDTF">2026-06-29T21:40:52Z</dcterms:modified>
</cp:coreProperties>
</file>