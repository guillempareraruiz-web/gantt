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s-E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6715F-B6C7-49E8-AFB1-66DB0B3EE8B4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F83C3-A31B-49C4-AD6B-F11227B28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479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Gracias por el tiempo. En esta hora os voy a ensenar algo que creo que os va a gustar. No vengo a deciros como trabajais hoy, eso ya lo sabeis vosotros mejor que nadie, vengo a ensenaros como podriais trabajar.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8457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Tres ideas: es facil de usar, habla con vuestro Sage solo, y se adapta a como trabajais vosotros.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4472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Lo primero: no teneis que cambiar nada. Estas son vuestras ordenes, directas de Sage, sin teclear nada.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3431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es importante: no somos un proveedor cualquiera. Somos ISV certificados, nuestro software esta homologado por Sage, y Sage nos vende como fabricante. La version 1 de este planner ya la vende el propio Sage.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3156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Lo que ahora copiais a mano a un Excel cada manana, aqui ya esta.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1987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Mira que facil. En segundos: un plan completo, respetando calendarios, turnos, sin que dos cosas choquen. Y ver donde os vais a saturar ANTES de que pase. (Silencio 2 segundos.)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0788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en Excel es imposible, o os lleva horas y aun asi con errores.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0879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Cada fabrica trabaja distinto. Aqui planificais al nivel que querais: la orden entera, una fase concreta, una linea de pedido, una tarea de proyecto... o tareas propias que ni estan en Sage.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6864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Hacia adelante desde hoy, hacia atras desde la entrega, por reglas, o a mano. Incluso comparar metodos y quedaros con el mejor.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4950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Y vais mas alla: definis vuestras propias reglas de prioridad, usais vuestros propios campos, y el motor planifica segun VUESTRA logica, no una generica.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519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No solo maquinas. Tambien personas, con sus habilidades. El plan sabe quien puede hacer que.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3164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Procesos que van juntos, todas las piezas del mismo color en una pasada de pintura, los agrupais en un lote.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8162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Si trabajais con moldes, sabeis en todo momento cual esta en cada maquina, su estado y su mantenimiento.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555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 que sirve un plan perfecto si os falta el material? El planner proyecta el stock y os avisa.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60272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No os imponemos una pantalla. Cada uno elige que datos ve, como los ordena, y en que formato: Gantt, Kanban o graficos. Y cada usuario guarda lo suyo.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94878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se ajusta a COMO trabajais vosotros, no al reves. Vuestros propios datos, que ni Sage tiene, conviven en el plan.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5521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Empezais con lo que necesitais hoy, y el dia que querais mas, ya esta ahi.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6313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Os habeis equivocado? Volveis atras el plan entero con un clic. Algo se tuerce? El sistema os avisa.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3067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gerencia: la foto completa de la fabrica en graficos.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2535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El tiempo que hoy dedicais a planificar se reduce a una fraccion, os adelantais a los problemas. Se paga solo. (NO decir precio: lo lleva comercial.)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50390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En vez de pelearte con un Excel, abres el plan, ves que hacer, y si entra un urgente lo resuelves en segundos.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52283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Que os ha parecido? Lo siguiente: ensenaros esto con mas datos vuestros.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F83C3-A31B-49C4-AD6B-F11227B28568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81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FBE5C-B7DE-6450-5DC9-5EB34BC48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E2F8D3-0D34-A1A7-7FBA-3F7EF0788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7717DD-0C9A-49F3-DCA7-7085D8ED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26D8-6C31-4D4C-9B30-AFE4B6280939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46F1E3-3F34-4DBE-09BA-203A10C34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46102A-556C-81C9-D592-26EAA7B9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76761-20B7-4CF7-A3D9-C5A39A8D9B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53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435BE-4ED8-587D-0897-807A2677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CE3EE8-8F48-CC36-D164-C0CF34C30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8C85F7-A23A-3F59-8F6E-3CED27578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26D8-6C31-4D4C-9B30-AFE4B6280939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916799-AA9B-ED65-AB24-84FD644A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33F95-0CAE-904F-24DE-4B159F08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76761-20B7-4CF7-A3D9-C5A39A8D9B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62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75017-CED9-1956-55AA-672834E86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42A600-22A2-9491-BFE8-03C975B6C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AFB252-8B77-86B6-4202-14AEB0A7C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26D8-6C31-4D4C-9B30-AFE4B6280939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3C3538-489F-ED92-BE38-0CA96995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30E335-E26C-7BFE-0E00-36647520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76761-20B7-4CF7-A3D9-C5A39A8D9B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7003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1DB9B-50E9-EE3E-A0E4-D78AD205E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FDF110-91FE-141D-695A-A7853E6E9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97861E-2875-65C3-C606-F4D1B2BB9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45F980-930C-BF2A-09C2-AB6673F5D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26D8-6C31-4D4C-9B30-AFE4B6280939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9B4132-E0EF-9243-8FA8-43D6EBBEB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D12593-8432-AC61-9E7C-BAA2A2AE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76761-20B7-4CF7-A3D9-C5A39A8D9B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7299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49C33-156D-85AF-77E7-27395B7A0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7690DA-DE4B-8253-42A7-BD91C82A2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6EB07A-C824-1CC2-129B-AFF064E6A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9B564AB-26BF-DE0B-6823-3CAADD2D78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2464C2D-78A6-E6FD-0D1A-E25735D33A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5A33182-0E27-0464-5ED5-20C635185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26D8-6C31-4D4C-9B30-AFE4B6280939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FCA7056-F839-F0AA-CC36-40F62F92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5D1DE60-EEA5-5A76-D5D0-A1378490D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76761-20B7-4CF7-A3D9-C5A39A8D9B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2303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9088C-0049-8D91-0D7D-95B6D6702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6E75534-CBC0-1633-7889-B20A63E3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26D8-6C31-4D4C-9B30-AFE4B6280939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2EECD5-D59D-5C5D-F5EC-531504ACD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554167-2F75-FF2F-5B41-A996AF18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76761-20B7-4CF7-A3D9-C5A39A8D9B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3290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2658505-8F50-A4CA-2CA3-23FF627CF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26D8-6C31-4D4C-9B30-AFE4B6280939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74B96D-DB42-7600-44EE-4A00EBD2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C10B6E-2CAD-58DB-EA34-E7F2E48F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76761-20B7-4CF7-A3D9-C5A39A8D9B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8139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D93FD-BFA8-B060-910A-7463239BB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048783-B756-D585-803A-B0FD1E1F0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C40C17-7498-AD26-2882-32F301AA1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FC2A68-72DA-F7A8-B545-FC734EB86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26D8-6C31-4D4C-9B30-AFE4B6280939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DB67CE-C7EA-71BD-706D-F3C0A418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A437CC-3246-4CE5-446A-F93B72D4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76761-20B7-4CF7-A3D9-C5A39A8D9B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1107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B8D3A-149F-27F5-C661-C277002FC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B4BE9A9-C073-0F12-42A6-A5EDA3E35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1D0662-DCDD-8B09-88E7-0D9FB084B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09BA8D-FE5B-5A75-730F-A3F0312E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26D8-6C31-4D4C-9B30-AFE4B6280939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AA1932-BCA8-F021-DEFA-E4FA6F9EF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439B92-8E09-559B-ACB3-12AD84E6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76761-20B7-4CF7-A3D9-C5A39A8D9B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30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ED7F5-FC8A-3D99-FDFC-E2AE29F6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99F95B-9A0A-3AAA-F716-661188628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921CDF-812B-28E4-0F1B-508B1604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26D8-6C31-4D4C-9B30-AFE4B6280939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8BB888-79B4-29C9-66CB-91DB6790B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630F08-216D-9EEE-3142-98010EDB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76761-20B7-4CF7-A3D9-C5A39A8D9B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388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532E9C-C6F3-E204-226E-87259DF05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62D943-903A-BCAC-6739-749CDB7AD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2D6AF6-A620-F03C-D7D2-8D0B8B6B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26D8-6C31-4D4C-9B30-AFE4B6280939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712101-8402-4B21-735A-391ABD949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B00957-3B4F-AE9A-71FA-F3BCA761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76761-20B7-4CF7-A3D9-C5A39A8D9B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107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95CBCD3-2615-F141-3A69-745D8C1A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5906E6-980E-9542-7BE8-AC800A36B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5280F3-E046-0497-7292-C99BF4EA9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026D8-6C31-4D4C-9B30-AFE4B6280939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7780A5-83A6-F2D7-7FD1-3397DD0D4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D8258B-EB12-4010-198F-5B64F068D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76761-20B7-4CF7-A3D9-C5A39A8D9B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630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1A1E"/>
            </a:gs>
            <a:gs pos="100000">
              <a:srgbClr val="20262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C1F3C450-19F6-B9F2-8CEB-7B346724266A}"/>
              </a:ext>
            </a:extLst>
          </p:cNvPr>
          <p:cNvCxnSpPr/>
          <p:nvPr/>
        </p:nvCxnSpPr>
        <p:spPr>
          <a:xfrm>
            <a:off x="653143" y="0"/>
            <a:ext cx="0" cy="5143500"/>
          </a:xfrm>
          <a:prstGeom prst="straightConnector1">
            <a:avLst/>
          </a:prstGeom>
          <a:ln w="9525" cap="flat" cmpd="sng" algn="ctr">
            <a:solidFill>
              <a:srgbClr val="3C444A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9DD1E2CB-65D6-41ED-05E6-9F65CC165F91}"/>
              </a:ext>
            </a:extLst>
          </p:cNvPr>
          <p:cNvCxnSpPr/>
          <p:nvPr/>
        </p:nvCxnSpPr>
        <p:spPr>
          <a:xfrm>
            <a:off x="1306286" y="0"/>
            <a:ext cx="0" cy="5143500"/>
          </a:xfrm>
          <a:prstGeom prst="straightConnector1">
            <a:avLst/>
          </a:prstGeom>
          <a:ln w="9525" cap="flat" cmpd="sng" algn="ctr">
            <a:solidFill>
              <a:srgbClr val="3C444A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4E56FD5-32E0-A056-F65A-3F146771D57A}"/>
              </a:ext>
            </a:extLst>
          </p:cNvPr>
          <p:cNvCxnSpPr/>
          <p:nvPr/>
        </p:nvCxnSpPr>
        <p:spPr>
          <a:xfrm>
            <a:off x="1959429" y="0"/>
            <a:ext cx="0" cy="5143500"/>
          </a:xfrm>
          <a:prstGeom prst="straightConnector1">
            <a:avLst/>
          </a:prstGeom>
          <a:ln w="9525" cap="flat" cmpd="sng" algn="ctr">
            <a:solidFill>
              <a:srgbClr val="3C444A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0084C94-63A7-844A-B2C1-60EF924D7940}"/>
              </a:ext>
            </a:extLst>
          </p:cNvPr>
          <p:cNvCxnSpPr/>
          <p:nvPr/>
        </p:nvCxnSpPr>
        <p:spPr>
          <a:xfrm>
            <a:off x="2612571" y="0"/>
            <a:ext cx="0" cy="5143500"/>
          </a:xfrm>
          <a:prstGeom prst="straightConnector1">
            <a:avLst/>
          </a:prstGeom>
          <a:ln w="9525" cap="flat" cmpd="sng" algn="ctr">
            <a:solidFill>
              <a:srgbClr val="3C444A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184A4517-ECAD-2D01-D3C4-99833B1CA0E9}"/>
              </a:ext>
            </a:extLst>
          </p:cNvPr>
          <p:cNvCxnSpPr/>
          <p:nvPr/>
        </p:nvCxnSpPr>
        <p:spPr>
          <a:xfrm>
            <a:off x="3265714" y="0"/>
            <a:ext cx="0" cy="5143500"/>
          </a:xfrm>
          <a:prstGeom prst="straightConnector1">
            <a:avLst/>
          </a:prstGeom>
          <a:ln w="9525" cap="flat" cmpd="sng" algn="ctr">
            <a:solidFill>
              <a:srgbClr val="3C444A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C66AB60-30F5-1E21-2660-8D582D7876E0}"/>
              </a:ext>
            </a:extLst>
          </p:cNvPr>
          <p:cNvCxnSpPr/>
          <p:nvPr/>
        </p:nvCxnSpPr>
        <p:spPr>
          <a:xfrm>
            <a:off x="3918857" y="0"/>
            <a:ext cx="0" cy="5143500"/>
          </a:xfrm>
          <a:prstGeom prst="straightConnector1">
            <a:avLst/>
          </a:prstGeom>
          <a:ln w="9525" cap="flat" cmpd="sng" algn="ctr">
            <a:solidFill>
              <a:srgbClr val="3C444A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44EB0B5-6025-1AF6-2919-A8A7D401303D}"/>
              </a:ext>
            </a:extLst>
          </p:cNvPr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ln w="9525" cap="flat" cmpd="sng" algn="ctr">
            <a:solidFill>
              <a:srgbClr val="3C444A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DA2A2A3-8931-28BC-4D1F-3AB1F9AB31A2}"/>
              </a:ext>
            </a:extLst>
          </p:cNvPr>
          <p:cNvCxnSpPr/>
          <p:nvPr/>
        </p:nvCxnSpPr>
        <p:spPr>
          <a:xfrm>
            <a:off x="5225143" y="0"/>
            <a:ext cx="0" cy="5143500"/>
          </a:xfrm>
          <a:prstGeom prst="straightConnector1">
            <a:avLst/>
          </a:prstGeom>
          <a:ln w="9525" cap="flat" cmpd="sng" algn="ctr">
            <a:solidFill>
              <a:srgbClr val="3C444A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9CE86D0-55C7-8D7E-96BA-09245FEC050E}"/>
              </a:ext>
            </a:extLst>
          </p:cNvPr>
          <p:cNvCxnSpPr/>
          <p:nvPr/>
        </p:nvCxnSpPr>
        <p:spPr>
          <a:xfrm>
            <a:off x="5878286" y="0"/>
            <a:ext cx="0" cy="5143500"/>
          </a:xfrm>
          <a:prstGeom prst="straightConnector1">
            <a:avLst/>
          </a:prstGeom>
          <a:ln w="9525" cap="flat" cmpd="sng" algn="ctr">
            <a:solidFill>
              <a:srgbClr val="3C444A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4A1F2A1-146C-ED73-E168-09130A92C406}"/>
              </a:ext>
            </a:extLst>
          </p:cNvPr>
          <p:cNvCxnSpPr/>
          <p:nvPr/>
        </p:nvCxnSpPr>
        <p:spPr>
          <a:xfrm>
            <a:off x="6531428" y="0"/>
            <a:ext cx="0" cy="5143500"/>
          </a:xfrm>
          <a:prstGeom prst="straightConnector1">
            <a:avLst/>
          </a:prstGeom>
          <a:ln w="9525" cap="flat" cmpd="sng" algn="ctr">
            <a:solidFill>
              <a:srgbClr val="3C444A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36DB466-D699-0F0C-713D-0484B5AC751C}"/>
              </a:ext>
            </a:extLst>
          </p:cNvPr>
          <p:cNvCxnSpPr/>
          <p:nvPr/>
        </p:nvCxnSpPr>
        <p:spPr>
          <a:xfrm>
            <a:off x="7184572" y="0"/>
            <a:ext cx="0" cy="5143500"/>
          </a:xfrm>
          <a:prstGeom prst="straightConnector1">
            <a:avLst/>
          </a:prstGeom>
          <a:ln w="9525" cap="flat" cmpd="sng" algn="ctr">
            <a:solidFill>
              <a:srgbClr val="3C444A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929F974-171C-F716-3B16-91E85CA2EB11}"/>
              </a:ext>
            </a:extLst>
          </p:cNvPr>
          <p:cNvCxnSpPr/>
          <p:nvPr/>
        </p:nvCxnSpPr>
        <p:spPr>
          <a:xfrm>
            <a:off x="7837715" y="0"/>
            <a:ext cx="0" cy="5143500"/>
          </a:xfrm>
          <a:prstGeom prst="straightConnector1">
            <a:avLst/>
          </a:prstGeom>
          <a:ln w="9525" cap="flat" cmpd="sng" algn="ctr">
            <a:solidFill>
              <a:srgbClr val="3C444A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2A06C44E-2DA3-F651-33A4-6CCD6427A009}"/>
              </a:ext>
            </a:extLst>
          </p:cNvPr>
          <p:cNvCxnSpPr/>
          <p:nvPr/>
        </p:nvCxnSpPr>
        <p:spPr>
          <a:xfrm>
            <a:off x="8490857" y="0"/>
            <a:ext cx="0" cy="5143500"/>
          </a:xfrm>
          <a:prstGeom prst="straightConnector1">
            <a:avLst/>
          </a:prstGeom>
          <a:ln w="9525" cap="flat" cmpd="sng" algn="ctr">
            <a:solidFill>
              <a:srgbClr val="3C444A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0EAB8A4-03C7-0D30-80E2-971CA95EAE3C}"/>
              </a:ext>
            </a:extLst>
          </p:cNvPr>
          <p:cNvSpPr/>
          <p:nvPr/>
        </p:nvSpPr>
        <p:spPr>
          <a:xfrm>
            <a:off x="914400" y="1543050"/>
            <a:ext cx="2560320" cy="231458"/>
          </a:xfrm>
          <a:prstGeom prst="roundRect">
            <a:avLst/>
          </a:prstGeom>
          <a:solidFill>
            <a:srgbClr val="00D639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4693EF1-1E58-D0F2-4D63-ABB00BB809B9}"/>
              </a:ext>
            </a:extLst>
          </p:cNvPr>
          <p:cNvSpPr/>
          <p:nvPr/>
        </p:nvSpPr>
        <p:spPr>
          <a:xfrm>
            <a:off x="2926080" y="2160270"/>
            <a:ext cx="1828800" cy="231458"/>
          </a:xfrm>
          <a:prstGeom prst="roundRect">
            <a:avLst/>
          </a:prstGeom>
          <a:solidFill>
            <a:srgbClr val="00D639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8888B9C3-49D6-2FA0-B8E8-64319FF37FFD}"/>
              </a:ext>
            </a:extLst>
          </p:cNvPr>
          <p:cNvSpPr/>
          <p:nvPr/>
        </p:nvSpPr>
        <p:spPr>
          <a:xfrm>
            <a:off x="1645920" y="2828925"/>
            <a:ext cx="2743200" cy="231458"/>
          </a:xfrm>
          <a:prstGeom prst="roundRect">
            <a:avLst/>
          </a:prstGeom>
          <a:solidFill>
            <a:srgbClr val="00D639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5A96646-95F5-7F2C-BC2E-B56B89D1B910}"/>
              </a:ext>
            </a:extLst>
          </p:cNvPr>
          <p:cNvSpPr/>
          <p:nvPr/>
        </p:nvSpPr>
        <p:spPr>
          <a:xfrm>
            <a:off x="3657600" y="3394710"/>
            <a:ext cx="1645920" cy="231457"/>
          </a:xfrm>
          <a:prstGeom prst="roundRect">
            <a:avLst/>
          </a:prstGeom>
          <a:solidFill>
            <a:srgbClr val="00D639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DFBA2F05-A341-6A9D-B855-4EF7CA03FC9A}"/>
              </a:ext>
            </a:extLst>
          </p:cNvPr>
          <p:cNvSpPr/>
          <p:nvPr/>
        </p:nvSpPr>
        <p:spPr>
          <a:xfrm>
            <a:off x="2286000" y="4011930"/>
            <a:ext cx="3200400" cy="231458"/>
          </a:xfrm>
          <a:prstGeom prst="roundRect">
            <a:avLst/>
          </a:prstGeom>
          <a:solidFill>
            <a:srgbClr val="00D639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5AB4C2B-D2F5-6CD7-BBB0-6D532DE58FBB}"/>
              </a:ext>
            </a:extLst>
          </p:cNvPr>
          <p:cNvSpPr/>
          <p:nvPr/>
        </p:nvSpPr>
        <p:spPr>
          <a:xfrm>
            <a:off x="731520" y="1954530"/>
            <a:ext cx="914400" cy="762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A61A799-F569-7208-B270-291796AB973A}"/>
              </a:ext>
            </a:extLst>
          </p:cNvPr>
          <p:cNvSpPr txBox="1"/>
          <p:nvPr/>
        </p:nvSpPr>
        <p:spPr>
          <a:xfrm>
            <a:off x="731520" y="2160270"/>
            <a:ext cx="7066483" cy="129266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4200" b="1">
                <a:solidFill>
                  <a:srgbClr val="FFFFFF"/>
                </a:solidFill>
                <a:latin typeface="Segoe UI Light" panose="020B0502040204020203" pitchFamily="34" charset="0"/>
              </a:rPr>
              <a:t>La planificacion de tu fabrica, por fin bajo control.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5A42FA8-E31E-EB70-707A-526A8EDC3E16}"/>
              </a:ext>
            </a:extLst>
          </p:cNvPr>
          <p:cNvSpPr txBox="1"/>
          <p:nvPr/>
        </p:nvSpPr>
        <p:spPr>
          <a:xfrm>
            <a:off x="731520" y="3600450"/>
            <a:ext cx="7680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800">
                <a:solidFill>
                  <a:srgbClr val="00D639"/>
                </a:solidFill>
                <a:latin typeface="Segoe UI" panose="020B0502040204020203" pitchFamily="34" charset="0"/>
              </a:rPr>
              <a:t>Integrado y certificado con Sage 200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5E31F4DF-34F0-6410-5C93-0A3CA56A658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880" y="360045"/>
            <a:ext cx="1645920" cy="37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08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09D5960-A3DF-9EEE-287E-BD3F2B064D3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CE583E0D-88ED-70B2-D81B-C3863BA07648}"/>
              </a:ext>
            </a:extLst>
          </p:cNvPr>
          <p:cNvSpPr/>
          <p:nvPr/>
        </p:nvSpPr>
        <p:spPr>
          <a:xfrm>
            <a:off x="6697980" y="1954530"/>
            <a:ext cx="1234440" cy="1234440"/>
          </a:xfrm>
          <a:prstGeom prst="ellipse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629DD1CE-D781-454A-EDAC-159CC4BB70C1}"/>
              </a:ext>
            </a:extLst>
          </p:cNvPr>
          <p:cNvCxnSpPr/>
          <p:nvPr/>
        </p:nvCxnSpPr>
        <p:spPr>
          <a:xfrm>
            <a:off x="7315200" y="1491615"/>
            <a:ext cx="0" cy="385762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E59D29B9-2355-CE04-59AD-E7C1A2704D2C}"/>
              </a:ext>
            </a:extLst>
          </p:cNvPr>
          <p:cNvCxnSpPr/>
          <p:nvPr/>
        </p:nvCxnSpPr>
        <p:spPr>
          <a:xfrm flipH="1">
            <a:off x="8009572" y="2571750"/>
            <a:ext cx="231458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0C0A01F-6CBD-045F-D553-141528794E2C}"/>
              </a:ext>
            </a:extLst>
          </p:cNvPr>
          <p:cNvSpPr txBox="1"/>
          <p:nvPr/>
        </p:nvSpPr>
        <p:spPr>
          <a:xfrm>
            <a:off x="731520" y="1028700"/>
            <a:ext cx="768096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B8B8B8"/>
                </a:solidFill>
                <a:latin typeface="Segoe UI" panose="020B0502040204020203" pitchFamily="34" charset="0"/>
              </a:rPr>
              <a:t>Tres ideas para toda la sesion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7BA4585-B096-0EB7-20E1-2D073C188D6B}"/>
              </a:ext>
            </a:extLst>
          </p:cNvPr>
          <p:cNvSpPr txBox="1"/>
          <p:nvPr/>
        </p:nvSpPr>
        <p:spPr>
          <a:xfrm>
            <a:off x="731520" y="2057400"/>
            <a:ext cx="7680960" cy="11695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800" b="1">
                <a:solidFill>
                  <a:srgbClr val="FFFFFF"/>
                </a:solidFill>
                <a:latin typeface="Segoe UI Semibold" panose="020B0702040204020203" pitchFamily="34" charset="0"/>
              </a:rPr>
              <a:t>Simple   .   Conectado   .   A tu medida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8639F5-BE20-5413-4459-4C3F1D53A802}"/>
              </a:ext>
            </a:extLst>
          </p:cNvPr>
          <p:cNvSpPr/>
          <p:nvPr/>
        </p:nvSpPr>
        <p:spPr>
          <a:xfrm>
            <a:off x="731520" y="3188970"/>
            <a:ext cx="1828800" cy="508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521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2480462-55D1-09D9-071A-54FEEEDA004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5633175-D03F-C214-7988-94C511E84D84}"/>
              </a:ext>
            </a:extLst>
          </p:cNvPr>
          <p:cNvSpPr/>
          <p:nvPr/>
        </p:nvSpPr>
        <p:spPr>
          <a:xfrm>
            <a:off x="6543675" y="1954530"/>
            <a:ext cx="1543050" cy="1234440"/>
          </a:xfrm>
          <a:prstGeom prst="round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4C3F2E1F-9207-8BAB-4C3C-CC1F872A7D83}"/>
              </a:ext>
            </a:extLst>
          </p:cNvPr>
          <p:cNvCxnSpPr/>
          <p:nvPr/>
        </p:nvCxnSpPr>
        <p:spPr>
          <a:xfrm flipH="1">
            <a:off x="5926455" y="2571750"/>
            <a:ext cx="617220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FBE9C98-8613-DDFC-CA17-902FAA2DB48F}"/>
              </a:ext>
            </a:extLst>
          </p:cNvPr>
          <p:cNvCxnSpPr/>
          <p:nvPr/>
        </p:nvCxnSpPr>
        <p:spPr>
          <a:xfrm>
            <a:off x="8086725" y="2571750"/>
            <a:ext cx="617220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9DB1CB00-B140-3E73-AC61-726DB5B356FE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B58314E-CB4B-6C7A-4F61-5E19231AB9AF}"/>
              </a:ext>
            </a:extLst>
          </p:cNvPr>
          <p:cNvSpPr txBox="1"/>
          <p:nvPr/>
        </p:nvSpPr>
        <p:spPr>
          <a:xfrm>
            <a:off x="731520" y="822960"/>
            <a:ext cx="7296912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No cambies nada de lo que ya tienes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5A03B82-52A7-EE47-C1C6-D1BAB5870B00}"/>
              </a:ext>
            </a:extLst>
          </p:cNvPr>
          <p:cNvSpPr txBox="1"/>
          <p:nvPr/>
        </p:nvSpPr>
        <p:spPr>
          <a:xfrm>
            <a:off x="731520" y="1748790"/>
            <a:ext cx="7296912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00D639"/>
                </a:solidFill>
                <a:latin typeface="Segoe UI" panose="020B0502040204020203" pitchFamily="34" charset="0"/>
              </a:rPr>
              <a:t>Tus ordenes ya estan en Sage 200.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0B4F9E9-EF34-2448-D81B-463B6257F945}"/>
              </a:ext>
            </a:extLst>
          </p:cNvPr>
          <p:cNvSpPr/>
          <p:nvPr/>
        </p:nvSpPr>
        <p:spPr>
          <a:xfrm>
            <a:off x="731520" y="4011930"/>
            <a:ext cx="5530291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4EC423-CFF1-44A6-AD36-246E04829A38}"/>
              </a:ext>
            </a:extLst>
          </p:cNvPr>
          <p:cNvSpPr txBox="1"/>
          <p:nvPr/>
        </p:nvSpPr>
        <p:spPr>
          <a:xfrm>
            <a:off x="960120" y="4113530"/>
            <a:ext cx="5376672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00D639"/>
                </a:solidFill>
                <a:latin typeface="Segoe UI" panose="020B0502040204020203" pitchFamily="34" charset="0"/>
              </a:rPr>
              <a:t>DEMO EN VIVO   &gt;   Backlog con las ordenes reales de Sage 200</a:t>
            </a:r>
          </a:p>
        </p:txBody>
      </p:sp>
    </p:spTree>
    <p:extLst>
      <p:ext uri="{BB962C8B-B14F-4D97-AF65-F5344CB8AC3E}">
        <p14:creationId xmlns:p14="http://schemas.microsoft.com/office/powerpoint/2010/main" val="3985500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815B4ED-8BEF-1262-C35E-4E72AF03484F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04821F4-7B16-371B-E18F-0CCFB4D5DA8B}"/>
              </a:ext>
            </a:extLst>
          </p:cNvPr>
          <p:cNvSpPr txBox="1"/>
          <p:nvPr/>
        </p:nvSpPr>
        <p:spPr>
          <a:xfrm>
            <a:off x="731520" y="925830"/>
            <a:ext cx="768096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No te lo decimos solo nosotros.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9533C58-01FD-D78A-11A2-CBAB51BE808A}"/>
              </a:ext>
            </a:extLst>
          </p:cNvPr>
          <p:cNvSpPr txBox="1"/>
          <p:nvPr/>
        </p:nvSpPr>
        <p:spPr>
          <a:xfrm>
            <a:off x="731520" y="1954530"/>
            <a:ext cx="6912864" cy="10156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200">
                <a:solidFill>
                  <a:srgbClr val="B8B8B8"/>
                </a:solidFill>
                <a:latin typeface="Segoe UI" panose="020B0502040204020203" pitchFamily="34" charset="0"/>
              </a:rPr>
              <a:t>Somos ISV certificados de Sage. Nuestro software esta homologado. De hecho, el propio Sage lo vende como fabricante.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CB2A48D-6D6A-7FD2-2DAA-AAFF0F4319B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3394710"/>
            <a:ext cx="1463040" cy="82149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A3898DB-5FAC-BB6A-FD52-3ADE3A64C02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549015"/>
            <a:ext cx="1463040" cy="33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14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0D81FCB-ECE5-61A0-BDF6-C6810B13DCB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7B1782F-B8AB-6DAE-0A10-7CAB7FE0EBBF}"/>
              </a:ext>
            </a:extLst>
          </p:cNvPr>
          <p:cNvCxnSpPr/>
          <p:nvPr/>
        </p:nvCxnSpPr>
        <p:spPr>
          <a:xfrm>
            <a:off x="6389370" y="2263140"/>
            <a:ext cx="1851660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3E562053-5709-3455-1735-D82918E1E303}"/>
              </a:ext>
            </a:extLst>
          </p:cNvPr>
          <p:cNvCxnSpPr/>
          <p:nvPr/>
        </p:nvCxnSpPr>
        <p:spPr>
          <a:xfrm flipH="1">
            <a:off x="6389370" y="2880360"/>
            <a:ext cx="1851660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2E4EFBF-9057-D31F-8EFE-F8CF51E39A2F}"/>
              </a:ext>
            </a:extLst>
          </p:cNvPr>
          <p:cNvCxnSpPr/>
          <p:nvPr/>
        </p:nvCxnSpPr>
        <p:spPr>
          <a:xfrm flipH="1" flipV="1">
            <a:off x="7932420" y="2031683"/>
            <a:ext cx="308610" cy="231457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C20CE4C-CA29-CEE8-75BE-7BB299A93D6E}"/>
              </a:ext>
            </a:extLst>
          </p:cNvPr>
          <p:cNvCxnSpPr/>
          <p:nvPr/>
        </p:nvCxnSpPr>
        <p:spPr>
          <a:xfrm>
            <a:off x="6389370" y="2880360"/>
            <a:ext cx="308610" cy="231457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5792C0A3-A585-3A77-9401-716657120C87}"/>
              </a:ext>
            </a:extLst>
          </p:cNvPr>
          <p:cNvSpPr/>
          <p:nvPr/>
        </p:nvSpPr>
        <p:spPr>
          <a:xfrm>
            <a:off x="3657600" y="1543050"/>
            <a:ext cx="1828800" cy="6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BA6942E-EC09-3EFB-02B1-591CEB9E4C87}"/>
              </a:ext>
            </a:extLst>
          </p:cNvPr>
          <p:cNvSpPr txBox="1"/>
          <p:nvPr/>
        </p:nvSpPr>
        <p:spPr>
          <a:xfrm>
            <a:off x="914400" y="1945831"/>
            <a:ext cx="73152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s-ES" sz="3400" b="1">
                <a:solidFill>
                  <a:srgbClr val="FFFFFF"/>
                </a:solidFill>
                <a:latin typeface="Segoe UI Light" panose="020B0502040204020203" pitchFamily="34" charset="0"/>
              </a:rPr>
              <a:t>Conectado. Cero trabajo doble.</a:t>
            </a:r>
          </a:p>
        </p:txBody>
      </p:sp>
    </p:spTree>
    <p:extLst>
      <p:ext uri="{BB962C8B-B14F-4D97-AF65-F5344CB8AC3E}">
        <p14:creationId xmlns:p14="http://schemas.microsoft.com/office/powerpoint/2010/main" val="911726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832E3E5-120C-6786-C624-814AFCF83B1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25392C3-8626-F08E-4B1B-1DCB05618177}"/>
              </a:ext>
            </a:extLst>
          </p:cNvPr>
          <p:cNvSpPr/>
          <p:nvPr/>
        </p:nvSpPr>
        <p:spPr>
          <a:xfrm>
            <a:off x="6389370" y="1877377"/>
            <a:ext cx="1080135" cy="246888"/>
          </a:xfrm>
          <a:prstGeom prst="round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6ACB5FA-886F-3144-42A0-B103A8003089}"/>
              </a:ext>
            </a:extLst>
          </p:cNvPr>
          <p:cNvSpPr/>
          <p:nvPr/>
        </p:nvSpPr>
        <p:spPr>
          <a:xfrm>
            <a:off x="6574536" y="2340292"/>
            <a:ext cx="1002982" cy="246888"/>
          </a:xfrm>
          <a:prstGeom prst="round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DAA6326-0C24-543F-42FD-CFD7F924B9B5}"/>
              </a:ext>
            </a:extLst>
          </p:cNvPr>
          <p:cNvSpPr/>
          <p:nvPr/>
        </p:nvSpPr>
        <p:spPr>
          <a:xfrm>
            <a:off x="6759702" y="2803208"/>
            <a:ext cx="925830" cy="246888"/>
          </a:xfrm>
          <a:prstGeom prst="round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A5C2200-50DB-5408-AD49-6E2B8A5A80B1}"/>
              </a:ext>
            </a:extLst>
          </p:cNvPr>
          <p:cNvSpPr/>
          <p:nvPr/>
        </p:nvSpPr>
        <p:spPr>
          <a:xfrm>
            <a:off x="6944868" y="3266122"/>
            <a:ext cx="848678" cy="246888"/>
          </a:xfrm>
          <a:prstGeom prst="round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B28AE01-B495-F953-7C9D-339EF0CFA076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26FB518-F775-3B06-5E03-C7C502A2A9DD}"/>
              </a:ext>
            </a:extLst>
          </p:cNvPr>
          <p:cNvSpPr txBox="1"/>
          <p:nvPr/>
        </p:nvSpPr>
        <p:spPr>
          <a:xfrm>
            <a:off x="731520" y="822960"/>
            <a:ext cx="7296912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Y aqui empieza la magia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683337-173F-CB32-A55E-6682715866A0}"/>
              </a:ext>
            </a:extLst>
          </p:cNvPr>
          <p:cNvSpPr txBox="1"/>
          <p:nvPr/>
        </p:nvSpPr>
        <p:spPr>
          <a:xfrm>
            <a:off x="731520" y="1748790"/>
            <a:ext cx="7296912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00D639"/>
                </a:solidFill>
                <a:latin typeface="Segoe UI" panose="020B0502040204020203" pitchFamily="34" charset="0"/>
              </a:rPr>
              <a:t>De una lista de ordenes... a un plan real, en segundos.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3ACF0BE-7220-D0E2-29D1-97C13DDA3531}"/>
              </a:ext>
            </a:extLst>
          </p:cNvPr>
          <p:cNvSpPr txBox="1"/>
          <p:nvPr/>
        </p:nvSpPr>
        <p:spPr>
          <a:xfrm>
            <a:off x="731520" y="2366010"/>
            <a:ext cx="5530291" cy="146193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8B8B8"/>
                </a:solidFill>
                <a:latin typeface="Segoe UI" panose="020B0502040204020203" pitchFamily="34" charset="0"/>
              </a:rPr>
              <a:t>1. Seleccionar ordenes y planificar (Express / wizard)
2. El Gantt se llena, ordenado
3. Heatmap: rojos de sobrecarga -&gt; reequilibrar -&gt; verdes
4. Arrastrar un urgente -&gt; todo se recoloca solo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A699E5B-E7E6-BC92-EBC5-E7607AAD37D6}"/>
              </a:ext>
            </a:extLst>
          </p:cNvPr>
          <p:cNvSpPr/>
          <p:nvPr/>
        </p:nvSpPr>
        <p:spPr>
          <a:xfrm>
            <a:off x="731520" y="4011930"/>
            <a:ext cx="5530291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0FF94B0-C508-7294-D64C-871A8D9652E3}"/>
              </a:ext>
            </a:extLst>
          </p:cNvPr>
          <p:cNvSpPr txBox="1"/>
          <p:nvPr/>
        </p:nvSpPr>
        <p:spPr>
          <a:xfrm>
            <a:off x="960120" y="4113530"/>
            <a:ext cx="5376672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00D639"/>
                </a:solidFill>
                <a:latin typeface="Segoe UI" panose="020B0502040204020203" pitchFamily="34" charset="0"/>
              </a:rPr>
              <a:t>DEMO EN VIVO   &gt;   Planificacion Express -&gt; Gantt -&gt; Heatmap -&gt; arrastrar urgente</a:t>
            </a:r>
          </a:p>
        </p:txBody>
      </p:sp>
    </p:spTree>
    <p:extLst>
      <p:ext uri="{BB962C8B-B14F-4D97-AF65-F5344CB8AC3E}">
        <p14:creationId xmlns:p14="http://schemas.microsoft.com/office/powerpoint/2010/main" val="3300892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F1BC114-12FA-0372-E9D5-5F2937260AA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7F69384E-ED2A-20B6-4910-E37F239748C7}"/>
              </a:ext>
            </a:extLst>
          </p:cNvPr>
          <p:cNvSpPr/>
          <p:nvPr/>
        </p:nvSpPr>
        <p:spPr>
          <a:xfrm>
            <a:off x="6697980" y="1954530"/>
            <a:ext cx="1234440" cy="1234440"/>
          </a:xfrm>
          <a:prstGeom prst="ellipse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98FA966-5345-E20E-3071-C04500F72AE8}"/>
              </a:ext>
            </a:extLst>
          </p:cNvPr>
          <p:cNvCxnSpPr/>
          <p:nvPr/>
        </p:nvCxnSpPr>
        <p:spPr>
          <a:xfrm>
            <a:off x="7315200" y="1491615"/>
            <a:ext cx="0" cy="385762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F58B1FB-53F6-984B-2851-7D7B5ED03FB8}"/>
              </a:ext>
            </a:extLst>
          </p:cNvPr>
          <p:cNvCxnSpPr/>
          <p:nvPr/>
        </p:nvCxnSpPr>
        <p:spPr>
          <a:xfrm flipH="1">
            <a:off x="8009572" y="2571750"/>
            <a:ext cx="231458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BDB1EBE0-D2E4-BD67-2075-75BE61FC1DE9}"/>
              </a:ext>
            </a:extLst>
          </p:cNvPr>
          <p:cNvSpPr/>
          <p:nvPr/>
        </p:nvSpPr>
        <p:spPr>
          <a:xfrm>
            <a:off x="3657600" y="1543050"/>
            <a:ext cx="1828800" cy="6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59B9972-A644-B32E-5533-AF8C6AA31EAB}"/>
              </a:ext>
            </a:extLst>
          </p:cNvPr>
          <p:cNvSpPr txBox="1"/>
          <p:nvPr/>
        </p:nvSpPr>
        <p:spPr>
          <a:xfrm>
            <a:off x="914400" y="1945831"/>
            <a:ext cx="73152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s-ES" sz="3400" b="1">
                <a:solidFill>
                  <a:srgbClr val="FFFFFF"/>
                </a:solidFill>
                <a:latin typeface="Segoe UI Light" panose="020B0502040204020203" pitchFamily="34" charset="0"/>
              </a:rPr>
              <a:t>De horas de Excel... a segundos.</a:t>
            </a:r>
          </a:p>
        </p:txBody>
      </p:sp>
    </p:spTree>
    <p:extLst>
      <p:ext uri="{BB962C8B-B14F-4D97-AF65-F5344CB8AC3E}">
        <p14:creationId xmlns:p14="http://schemas.microsoft.com/office/powerpoint/2010/main" val="856255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ADD82B-1A38-3179-A102-406DCE26DAD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A8E3202-2EBA-1961-552C-74F08F0897D0}"/>
              </a:ext>
            </a:extLst>
          </p:cNvPr>
          <p:cNvSpPr/>
          <p:nvPr/>
        </p:nvSpPr>
        <p:spPr>
          <a:xfrm>
            <a:off x="6543675" y="1877377"/>
            <a:ext cx="1543050" cy="277749"/>
          </a:xfrm>
          <a:prstGeom prst="round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13F3572-8B58-0333-AB0D-FA4C205868AB}"/>
              </a:ext>
            </a:extLst>
          </p:cNvPr>
          <p:cNvSpPr/>
          <p:nvPr/>
        </p:nvSpPr>
        <p:spPr>
          <a:xfrm>
            <a:off x="6651689" y="2309432"/>
            <a:ext cx="1327022" cy="277748"/>
          </a:xfrm>
          <a:prstGeom prst="round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BCAC710-0967-1737-69B3-83535937CB95}"/>
              </a:ext>
            </a:extLst>
          </p:cNvPr>
          <p:cNvSpPr/>
          <p:nvPr/>
        </p:nvSpPr>
        <p:spPr>
          <a:xfrm>
            <a:off x="6759702" y="2741486"/>
            <a:ext cx="1110996" cy="277749"/>
          </a:xfrm>
          <a:prstGeom prst="round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16FE856-FEFF-DBC7-A61C-48F023828B02}"/>
              </a:ext>
            </a:extLst>
          </p:cNvPr>
          <p:cNvSpPr/>
          <p:nvPr/>
        </p:nvSpPr>
        <p:spPr>
          <a:xfrm>
            <a:off x="6867716" y="3173539"/>
            <a:ext cx="894968" cy="277750"/>
          </a:xfrm>
          <a:prstGeom prst="round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0A9718-F48F-FA77-C3C6-02DC5945B64F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6CCB94E-5C47-89C9-E9F9-E87D8EA66C5B}"/>
              </a:ext>
            </a:extLst>
          </p:cNvPr>
          <p:cNvSpPr txBox="1"/>
          <p:nvPr/>
        </p:nvSpPr>
        <p:spPr>
          <a:xfrm>
            <a:off x="731520" y="822960"/>
            <a:ext cx="7296912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Tu decides QUE planificar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77505AF-28A8-DCF9-9E38-795A384FFC27}"/>
              </a:ext>
            </a:extLst>
          </p:cNvPr>
          <p:cNvSpPr txBox="1"/>
          <p:nvPr/>
        </p:nvSpPr>
        <p:spPr>
          <a:xfrm>
            <a:off x="731520" y="1748790"/>
            <a:ext cx="5530291" cy="17543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8B8B8"/>
                </a:solidFill>
                <a:latin typeface="Segoe UI" panose="020B0502040204020203" pitchFamily="34" charset="0"/>
              </a:rPr>
              <a:t>Ordenes de fabricacion enteras
Ordenes de trabajo
Operaciones o fases
Pedidos o lineas de pedido
Tareas de proyectos
Tareas personalizadas (no estan ni en el ERP)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A9D66F5-F83A-1BE4-D6B8-14B4ACD0AB33}"/>
              </a:ext>
            </a:extLst>
          </p:cNvPr>
          <p:cNvSpPr/>
          <p:nvPr/>
        </p:nvSpPr>
        <p:spPr>
          <a:xfrm>
            <a:off x="731520" y="4011930"/>
            <a:ext cx="5530291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F03586E-4E7D-9800-D212-6EBCDAC3B630}"/>
              </a:ext>
            </a:extLst>
          </p:cNvPr>
          <p:cNvSpPr txBox="1"/>
          <p:nvPr/>
        </p:nvSpPr>
        <p:spPr>
          <a:xfrm>
            <a:off x="960120" y="4113530"/>
            <a:ext cx="5376672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00D639"/>
                </a:solidFill>
                <a:latin typeface="Segoe UI" panose="020B0502040204020203" pitchFamily="34" charset="0"/>
              </a:rPr>
              <a:t>DEMO EN VIVO   &gt;   Backlog: elegir el nivel de planificacion</a:t>
            </a:r>
          </a:p>
        </p:txBody>
      </p:sp>
    </p:spTree>
    <p:extLst>
      <p:ext uri="{BB962C8B-B14F-4D97-AF65-F5344CB8AC3E}">
        <p14:creationId xmlns:p14="http://schemas.microsoft.com/office/powerpoint/2010/main" val="283108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7DFC59D-9D5D-9BA3-8D66-E3D952404F0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9A884415-6E26-B8EA-C95E-BEE885B8D6C3}"/>
              </a:ext>
            </a:extLst>
          </p:cNvPr>
          <p:cNvCxnSpPr/>
          <p:nvPr/>
        </p:nvCxnSpPr>
        <p:spPr>
          <a:xfrm>
            <a:off x="6389370" y="2263140"/>
            <a:ext cx="1851660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08EE3F04-4D3C-7F0A-C779-B8EDCBF884C1}"/>
              </a:ext>
            </a:extLst>
          </p:cNvPr>
          <p:cNvCxnSpPr/>
          <p:nvPr/>
        </p:nvCxnSpPr>
        <p:spPr>
          <a:xfrm flipH="1">
            <a:off x="6389370" y="2880360"/>
            <a:ext cx="1851660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63F5BFD-0F6F-D4D4-A56A-411D22B40991}"/>
              </a:ext>
            </a:extLst>
          </p:cNvPr>
          <p:cNvCxnSpPr/>
          <p:nvPr/>
        </p:nvCxnSpPr>
        <p:spPr>
          <a:xfrm flipH="1" flipV="1">
            <a:off x="7932420" y="2031683"/>
            <a:ext cx="308610" cy="231457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F014E4C-47C6-3DB8-913E-94692CC00524}"/>
              </a:ext>
            </a:extLst>
          </p:cNvPr>
          <p:cNvCxnSpPr/>
          <p:nvPr/>
        </p:nvCxnSpPr>
        <p:spPr>
          <a:xfrm>
            <a:off x="6389370" y="2880360"/>
            <a:ext cx="308610" cy="231457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8B6F2D3F-BDBB-3090-A4EA-158A005D87A5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AE473D7-4D2C-D211-98EA-B769F0ACB4B2}"/>
              </a:ext>
            </a:extLst>
          </p:cNvPr>
          <p:cNvSpPr txBox="1"/>
          <p:nvPr/>
        </p:nvSpPr>
        <p:spPr>
          <a:xfrm>
            <a:off x="731520" y="822960"/>
            <a:ext cx="7296912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Tu eliges COMO planificar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5C8A96-BB93-B4F8-A1A6-CD86636CEECF}"/>
              </a:ext>
            </a:extLst>
          </p:cNvPr>
          <p:cNvSpPr txBox="1"/>
          <p:nvPr/>
        </p:nvSpPr>
        <p:spPr>
          <a:xfrm>
            <a:off x="731520" y="1748790"/>
            <a:ext cx="5530291" cy="146193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8B8B8"/>
                </a:solidFill>
                <a:latin typeface="Segoe UI" panose="020B0502040204020203" pitchFamily="34" charset="0"/>
              </a:rPr>
              <a:t>Automatica hacia adelante (desde hoy) o hacia atras (desde la entrega)
Manual, a tu ritmo
Por reglas de prioridad
Comparas metodos y te quedas con el mejor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DE6CCE2-F0A2-428C-E1CE-DAFFDB13C522}"/>
              </a:ext>
            </a:extLst>
          </p:cNvPr>
          <p:cNvSpPr/>
          <p:nvPr/>
        </p:nvSpPr>
        <p:spPr>
          <a:xfrm>
            <a:off x="731520" y="4011930"/>
            <a:ext cx="5530291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12ED253-06E4-8563-3A00-0C474B887CB2}"/>
              </a:ext>
            </a:extLst>
          </p:cNvPr>
          <p:cNvSpPr txBox="1"/>
          <p:nvPr/>
        </p:nvSpPr>
        <p:spPr>
          <a:xfrm>
            <a:off x="960120" y="4113530"/>
            <a:ext cx="5376672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00D639"/>
                </a:solidFill>
                <a:latin typeface="Segoe UI" panose="020B0502040204020203" pitchFamily="34" charset="0"/>
              </a:rPr>
              <a:t>DEMO EN VIVO   &gt;   Wizard con distintos modos / comparativa de metodos</a:t>
            </a:r>
          </a:p>
        </p:txBody>
      </p:sp>
    </p:spTree>
    <p:extLst>
      <p:ext uri="{BB962C8B-B14F-4D97-AF65-F5344CB8AC3E}">
        <p14:creationId xmlns:p14="http://schemas.microsoft.com/office/powerpoint/2010/main" val="3704825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843A962-5DEC-3353-B5D6-A0E81C11A52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B0718534-C0BB-36BA-A383-C4A02B104500}"/>
              </a:ext>
            </a:extLst>
          </p:cNvPr>
          <p:cNvCxnSpPr/>
          <p:nvPr/>
        </p:nvCxnSpPr>
        <p:spPr>
          <a:xfrm>
            <a:off x="6543675" y="2031683"/>
            <a:ext cx="1543050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8F50AFE5-A3E9-43B0-0482-9843AFDF64B2}"/>
              </a:ext>
            </a:extLst>
          </p:cNvPr>
          <p:cNvSpPr/>
          <p:nvPr/>
        </p:nvSpPr>
        <p:spPr>
          <a:xfrm>
            <a:off x="6744271" y="1923669"/>
            <a:ext cx="216027" cy="216027"/>
          </a:xfrm>
          <a:prstGeom prst="ellipse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E3D85BBB-C97F-82AD-ED8F-F883A82FEE64}"/>
              </a:ext>
            </a:extLst>
          </p:cNvPr>
          <p:cNvCxnSpPr/>
          <p:nvPr/>
        </p:nvCxnSpPr>
        <p:spPr>
          <a:xfrm>
            <a:off x="6543675" y="2571750"/>
            <a:ext cx="1543050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E377E263-7854-B9BA-AAC9-2E58878ADF27}"/>
              </a:ext>
            </a:extLst>
          </p:cNvPr>
          <p:cNvSpPr/>
          <p:nvPr/>
        </p:nvSpPr>
        <p:spPr>
          <a:xfrm>
            <a:off x="7207186" y="2463736"/>
            <a:ext cx="216028" cy="216027"/>
          </a:xfrm>
          <a:prstGeom prst="ellipse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4E0BEC8-2A05-AE0C-0394-1A88D1E4B2B8}"/>
              </a:ext>
            </a:extLst>
          </p:cNvPr>
          <p:cNvCxnSpPr/>
          <p:nvPr/>
        </p:nvCxnSpPr>
        <p:spPr>
          <a:xfrm>
            <a:off x="6543675" y="3111817"/>
            <a:ext cx="1543050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EEEE2830-1AF1-72BF-1972-DA6F541A000C}"/>
              </a:ext>
            </a:extLst>
          </p:cNvPr>
          <p:cNvSpPr/>
          <p:nvPr/>
        </p:nvSpPr>
        <p:spPr>
          <a:xfrm>
            <a:off x="7670102" y="3003804"/>
            <a:ext cx="216027" cy="216027"/>
          </a:xfrm>
          <a:prstGeom prst="ellipse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F0C40C1-0932-EE6F-5C4E-20F34BB29358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1D29D70-5F96-B9FD-33F0-43A412E74492}"/>
              </a:ext>
            </a:extLst>
          </p:cNvPr>
          <p:cNvSpPr txBox="1"/>
          <p:nvPr/>
        </p:nvSpPr>
        <p:spPr>
          <a:xfrm>
            <a:off x="731520" y="822960"/>
            <a:ext cx="7296912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Planifica con TUS reglas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DD8D0DE-9E62-C2A9-C233-2D25A7EA3F9A}"/>
              </a:ext>
            </a:extLst>
          </p:cNvPr>
          <p:cNvSpPr txBox="1"/>
          <p:nvPr/>
        </p:nvSpPr>
        <p:spPr>
          <a:xfrm>
            <a:off x="731520" y="1748790"/>
            <a:ext cx="5530291" cy="8771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8B8B8"/>
                </a:solidFill>
                <a:latin typeface="Segoe UI" panose="020B0502040204020203" pitchFamily="34" charset="0"/>
              </a:rPr>
              <a:t>Define tus propias reglas de prioridad
Usa tus propios campos en la decision
Motor de planificacion configurable a tu logica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21C2EBD-6FB8-D643-5C6A-4B81D9243E1E}"/>
              </a:ext>
            </a:extLst>
          </p:cNvPr>
          <p:cNvSpPr/>
          <p:nvPr/>
        </p:nvSpPr>
        <p:spPr>
          <a:xfrm>
            <a:off x="731520" y="4011930"/>
            <a:ext cx="5530291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3F9780A-685E-9F67-2972-8F5698011BE0}"/>
              </a:ext>
            </a:extLst>
          </p:cNvPr>
          <p:cNvSpPr txBox="1"/>
          <p:nvPr/>
        </p:nvSpPr>
        <p:spPr>
          <a:xfrm>
            <a:off x="960120" y="4113530"/>
            <a:ext cx="5376672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00D639"/>
                </a:solidFill>
                <a:latin typeface="Segoe UI" panose="020B0502040204020203" pitchFamily="34" charset="0"/>
              </a:rPr>
              <a:t>DEMO EN VIVO   &gt;   Motor de reglas / parametros de planificacion</a:t>
            </a:r>
          </a:p>
        </p:txBody>
      </p:sp>
    </p:spTree>
    <p:extLst>
      <p:ext uri="{BB962C8B-B14F-4D97-AF65-F5344CB8AC3E}">
        <p14:creationId xmlns:p14="http://schemas.microsoft.com/office/powerpoint/2010/main" val="117983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DD34B17-8E9D-A80A-7A36-23DC243A9FB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5DFD400C-657A-41A9-A598-13E96E63103D}"/>
              </a:ext>
            </a:extLst>
          </p:cNvPr>
          <p:cNvSpPr/>
          <p:nvPr/>
        </p:nvSpPr>
        <p:spPr>
          <a:xfrm>
            <a:off x="7006590" y="1800225"/>
            <a:ext cx="617220" cy="617220"/>
          </a:xfrm>
          <a:prstGeom prst="ellipse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870FAA4-385B-A222-754E-A27D26D9A91A}"/>
              </a:ext>
            </a:extLst>
          </p:cNvPr>
          <p:cNvSpPr/>
          <p:nvPr/>
        </p:nvSpPr>
        <p:spPr>
          <a:xfrm>
            <a:off x="6775132" y="2494598"/>
            <a:ext cx="1080135" cy="925830"/>
          </a:xfrm>
          <a:prstGeom prst="round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08BF83E-EF0D-BBF0-EF41-547EE30AD6EE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98B482-B128-08DD-A8C1-2578D6408D9E}"/>
              </a:ext>
            </a:extLst>
          </p:cNvPr>
          <p:cNvSpPr txBox="1"/>
          <p:nvPr/>
        </p:nvSpPr>
        <p:spPr>
          <a:xfrm>
            <a:off x="731520" y="822960"/>
            <a:ext cx="7296912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Maquinas, centros... y personas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0E7A08A-0C2A-4CCF-F1EA-15A950A833BA}"/>
              </a:ext>
            </a:extLst>
          </p:cNvPr>
          <p:cNvSpPr txBox="1"/>
          <p:nvPr/>
        </p:nvSpPr>
        <p:spPr>
          <a:xfrm>
            <a:off x="731520" y="1748790"/>
            <a:ext cx="7296912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00D639"/>
                </a:solidFill>
                <a:latin typeface="Segoe UI" panose="020B0502040204020203" pitchFamily="34" charset="0"/>
              </a:rPr>
              <a:t>[MODULAR]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1AE009-3796-250C-DA3A-C36D8DA15AD5}"/>
              </a:ext>
            </a:extLst>
          </p:cNvPr>
          <p:cNvSpPr txBox="1"/>
          <p:nvPr/>
        </p:nvSpPr>
        <p:spPr>
          <a:xfrm>
            <a:off x="731520" y="2366010"/>
            <a:ext cx="5530291" cy="8771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8B8B8"/>
                </a:solidFill>
                <a:latin typeface="Segoe UI" panose="020B0502040204020203" pitchFamily="34" charset="0"/>
              </a:rPr>
              <a:t>Capacidad finita real: centros, maquinas y operarios con habilidades.
El plan sabe quien puede hacer que.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CD85228-026B-27AE-1C39-31FF4DE14D09}"/>
              </a:ext>
            </a:extLst>
          </p:cNvPr>
          <p:cNvSpPr/>
          <p:nvPr/>
        </p:nvSpPr>
        <p:spPr>
          <a:xfrm>
            <a:off x="731520" y="4011930"/>
            <a:ext cx="5530291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B867C4F-E3B7-8943-3F7E-59973746FBC4}"/>
              </a:ext>
            </a:extLst>
          </p:cNvPr>
          <p:cNvSpPr txBox="1"/>
          <p:nvPr/>
        </p:nvSpPr>
        <p:spPr>
          <a:xfrm>
            <a:off x="960120" y="4113530"/>
            <a:ext cx="5376672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00D639"/>
                </a:solidFill>
                <a:latin typeface="Segoe UI" panose="020B0502040204020203" pitchFamily="34" charset="0"/>
              </a:rPr>
              <a:t>DEMO EN VIVO   &gt;   Capacidad finita de operarios / habilidades / heatmap por operario</a:t>
            </a:r>
          </a:p>
        </p:txBody>
      </p:sp>
    </p:spTree>
    <p:extLst>
      <p:ext uri="{BB962C8B-B14F-4D97-AF65-F5344CB8AC3E}">
        <p14:creationId xmlns:p14="http://schemas.microsoft.com/office/powerpoint/2010/main" val="4069096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B6BA30-4394-AA82-6B06-8B6AB128B39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5E091FC-7A81-4C83-7136-77A9E631B6E2}"/>
              </a:ext>
            </a:extLst>
          </p:cNvPr>
          <p:cNvSpPr/>
          <p:nvPr/>
        </p:nvSpPr>
        <p:spPr>
          <a:xfrm>
            <a:off x="6697980" y="1954530"/>
            <a:ext cx="540068" cy="540067"/>
          </a:xfrm>
          <a:prstGeom prst="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D199E9-442D-328D-C95B-AE64C0AC75BC}"/>
              </a:ext>
            </a:extLst>
          </p:cNvPr>
          <p:cNvSpPr/>
          <p:nvPr/>
        </p:nvSpPr>
        <p:spPr>
          <a:xfrm>
            <a:off x="7392353" y="1954530"/>
            <a:ext cx="540067" cy="540067"/>
          </a:xfrm>
          <a:prstGeom prst="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7E6E40E-DE7D-2546-17E6-D5A3AA0CAD3A}"/>
              </a:ext>
            </a:extLst>
          </p:cNvPr>
          <p:cNvSpPr/>
          <p:nvPr/>
        </p:nvSpPr>
        <p:spPr>
          <a:xfrm>
            <a:off x="6697980" y="2648902"/>
            <a:ext cx="540068" cy="540068"/>
          </a:xfrm>
          <a:prstGeom prst="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F12D7B-56F3-2B25-32D2-4D85835850E3}"/>
              </a:ext>
            </a:extLst>
          </p:cNvPr>
          <p:cNvSpPr/>
          <p:nvPr/>
        </p:nvSpPr>
        <p:spPr>
          <a:xfrm>
            <a:off x="7392353" y="2648902"/>
            <a:ext cx="540067" cy="540068"/>
          </a:xfrm>
          <a:prstGeom prst="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2B374E-CC28-0BD9-0F21-DBCBF39F9B13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3ADF1AD-B09A-CFDE-3CA2-124383623A5D}"/>
              </a:ext>
            </a:extLst>
          </p:cNvPr>
          <p:cNvSpPr txBox="1"/>
          <p:nvPr/>
        </p:nvSpPr>
        <p:spPr>
          <a:xfrm>
            <a:off x="731520" y="822960"/>
            <a:ext cx="7296912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Agrupa lo que va junto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E92B81-0B30-22C0-61C2-03D7F42B8C2B}"/>
              </a:ext>
            </a:extLst>
          </p:cNvPr>
          <p:cNvSpPr txBox="1"/>
          <p:nvPr/>
        </p:nvSpPr>
        <p:spPr>
          <a:xfrm>
            <a:off x="731520" y="1748790"/>
            <a:ext cx="7296912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00D639"/>
                </a:solidFill>
                <a:latin typeface="Segoe UI" panose="020B0502040204020203" pitchFamily="34" charset="0"/>
              </a:rPr>
              <a:t>[MODULAR]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A48AC0A-DEE1-5F4B-67DD-B463AA762F72}"/>
              </a:ext>
            </a:extLst>
          </p:cNvPr>
          <p:cNvSpPr txBox="1"/>
          <p:nvPr/>
        </p:nvSpPr>
        <p:spPr>
          <a:xfrm>
            <a:off x="731520" y="2366010"/>
            <a:ext cx="5530291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8B8B8"/>
                </a:solidFill>
                <a:latin typeface="Segoe UI" panose="020B0502040204020203" pitchFamily="34" charset="0"/>
              </a:rPr>
              <a:t>Pintura por color, hornada de horno...
Agrupa operaciones en un lote y planificalas juntas.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AE275A3-A38F-E17A-7197-C88953C1612B}"/>
              </a:ext>
            </a:extLst>
          </p:cNvPr>
          <p:cNvSpPr/>
          <p:nvPr/>
        </p:nvSpPr>
        <p:spPr>
          <a:xfrm>
            <a:off x="731520" y="4011930"/>
            <a:ext cx="5530291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89B4B6C-4AFF-1A41-5FD9-0E2AA7397160}"/>
              </a:ext>
            </a:extLst>
          </p:cNvPr>
          <p:cNvSpPr txBox="1"/>
          <p:nvPr/>
        </p:nvSpPr>
        <p:spPr>
          <a:xfrm>
            <a:off x="960120" y="4113530"/>
            <a:ext cx="5376672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00D639"/>
                </a:solidFill>
                <a:latin typeface="Segoe UI" panose="020B0502040204020203" pitchFamily="34" charset="0"/>
              </a:rPr>
              <a:t>DEMO EN VIVO   &gt;   Crear un lote en el Gantt</a:t>
            </a:r>
          </a:p>
        </p:txBody>
      </p:sp>
    </p:spTree>
    <p:extLst>
      <p:ext uri="{BB962C8B-B14F-4D97-AF65-F5344CB8AC3E}">
        <p14:creationId xmlns:p14="http://schemas.microsoft.com/office/powerpoint/2010/main" val="259869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440DBA6-AD1A-453C-8571-D324AFEA5C4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32E5F8FB-5863-CD19-4661-7D0589FCD748}"/>
              </a:ext>
            </a:extLst>
          </p:cNvPr>
          <p:cNvSpPr/>
          <p:nvPr/>
        </p:nvSpPr>
        <p:spPr>
          <a:xfrm>
            <a:off x="6697980" y="1954530"/>
            <a:ext cx="1234440" cy="1234440"/>
          </a:xfrm>
          <a:prstGeom prst="ellipse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322785D-003E-CFAC-9D15-67FA4866D473}"/>
              </a:ext>
            </a:extLst>
          </p:cNvPr>
          <p:cNvSpPr/>
          <p:nvPr/>
        </p:nvSpPr>
        <p:spPr>
          <a:xfrm>
            <a:off x="7083743" y="2340292"/>
            <a:ext cx="462915" cy="462915"/>
          </a:xfrm>
          <a:prstGeom prst="ellipse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1AC663D-C816-4CCD-BC86-F32A1021D5CD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5D44E6E-45D2-5413-70DA-64495905B84C}"/>
              </a:ext>
            </a:extLst>
          </p:cNvPr>
          <p:cNvSpPr txBox="1"/>
          <p:nvPr/>
        </p:nvSpPr>
        <p:spPr>
          <a:xfrm>
            <a:off x="731520" y="822960"/>
            <a:ext cx="7296912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Control de moldes y utillajes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93D350-F245-FF48-EBF6-CE3E5DA48E81}"/>
              </a:ext>
            </a:extLst>
          </p:cNvPr>
          <p:cNvSpPr txBox="1"/>
          <p:nvPr/>
        </p:nvSpPr>
        <p:spPr>
          <a:xfrm>
            <a:off x="731520" y="1748790"/>
            <a:ext cx="7296912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00D639"/>
                </a:solidFill>
                <a:latin typeface="Segoe UI" panose="020B0502040204020203" pitchFamily="34" charset="0"/>
              </a:rPr>
              <a:t>[MODULAR]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799425A-271E-8430-3154-1AEA7394ACB6}"/>
              </a:ext>
            </a:extLst>
          </p:cNvPr>
          <p:cNvSpPr txBox="1"/>
          <p:nvPr/>
        </p:nvSpPr>
        <p:spPr>
          <a:xfrm>
            <a:off x="731520" y="2366010"/>
            <a:ext cx="5530291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8B8B8"/>
                </a:solidFill>
                <a:latin typeface="Segoe UI" panose="020B0502040204020203" pitchFamily="34" charset="0"/>
              </a:rPr>
              <a:t>Que molde esta en que maquina, su estado y su mantenimiento.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1894A76-05AB-82BF-A77D-C32159DCBE8D}"/>
              </a:ext>
            </a:extLst>
          </p:cNvPr>
          <p:cNvSpPr/>
          <p:nvPr/>
        </p:nvSpPr>
        <p:spPr>
          <a:xfrm>
            <a:off x="731520" y="4011930"/>
            <a:ext cx="5530291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605A99A-DAF5-1466-D84F-FDF8674FEC7A}"/>
              </a:ext>
            </a:extLst>
          </p:cNvPr>
          <p:cNvSpPr txBox="1"/>
          <p:nvPr/>
        </p:nvSpPr>
        <p:spPr>
          <a:xfrm>
            <a:off x="960120" y="4113530"/>
            <a:ext cx="5376672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00D639"/>
                </a:solidFill>
                <a:latin typeface="Segoe UI" panose="020B0502040204020203" pitchFamily="34" charset="0"/>
              </a:rPr>
              <a:t>DEMO EN VIVO   &gt;   Gestion de moldes / utillajes</a:t>
            </a:r>
          </a:p>
        </p:txBody>
      </p:sp>
    </p:spTree>
    <p:extLst>
      <p:ext uri="{BB962C8B-B14F-4D97-AF65-F5344CB8AC3E}">
        <p14:creationId xmlns:p14="http://schemas.microsoft.com/office/powerpoint/2010/main" val="2082712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76F70D9-7D19-B361-1AEC-AC092FB21D5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64384CE-E1A2-0CD8-196E-7D9B64362C86}"/>
              </a:ext>
            </a:extLst>
          </p:cNvPr>
          <p:cNvSpPr/>
          <p:nvPr/>
        </p:nvSpPr>
        <p:spPr>
          <a:xfrm>
            <a:off x="6697980" y="1954530"/>
            <a:ext cx="1234440" cy="1234440"/>
          </a:xfrm>
          <a:prstGeom prst="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24CBEB61-2775-E55D-7060-BA4244FE2808}"/>
              </a:ext>
            </a:extLst>
          </p:cNvPr>
          <p:cNvCxnSpPr/>
          <p:nvPr/>
        </p:nvCxnSpPr>
        <p:spPr>
          <a:xfrm>
            <a:off x="6697980" y="2417445"/>
            <a:ext cx="1234440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35EAFA5-8AB5-6754-1B14-A50D565CBC37}"/>
              </a:ext>
            </a:extLst>
          </p:cNvPr>
          <p:cNvCxnSpPr/>
          <p:nvPr/>
        </p:nvCxnSpPr>
        <p:spPr>
          <a:xfrm>
            <a:off x="7315200" y="1954530"/>
            <a:ext cx="0" cy="462915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278B43E6-824E-1768-522B-CC2B659C6100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CFA137-7F2D-802D-CF0C-586681103133}"/>
              </a:ext>
            </a:extLst>
          </p:cNvPr>
          <p:cNvSpPr txBox="1"/>
          <p:nvPr/>
        </p:nvSpPr>
        <p:spPr>
          <a:xfrm>
            <a:off x="731520" y="822960"/>
            <a:ext cx="7296912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El plan mira tambien el material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9D6DE8B-68F1-8295-1F41-D5FD3F22C206}"/>
              </a:ext>
            </a:extLst>
          </p:cNvPr>
          <p:cNvSpPr txBox="1"/>
          <p:nvPr/>
        </p:nvSpPr>
        <p:spPr>
          <a:xfrm>
            <a:off x="731520" y="1748790"/>
            <a:ext cx="7296912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00D639"/>
                </a:solidFill>
                <a:latin typeface="Segoe UI" panose="020B0502040204020203" pitchFamily="34" charset="0"/>
              </a:rPr>
              <a:t>[MODULAR]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B8CB4D5-473D-934B-9B72-48F766BF47A7}"/>
              </a:ext>
            </a:extLst>
          </p:cNvPr>
          <p:cNvSpPr txBox="1"/>
          <p:nvPr/>
        </p:nvSpPr>
        <p:spPr>
          <a:xfrm>
            <a:off x="731520" y="2366010"/>
            <a:ext cx="5530291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8B8B8"/>
                </a:solidFill>
                <a:latin typeface="Segoe UI" panose="020B0502040204020203" pitchFamily="34" charset="0"/>
              </a:rPr>
              <a:t>Stock proyectado y MRP enlazado al plan:
planificas sabiendo si tendras material.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79A4B25-53BE-1A1D-E40E-71A30ADBFE95}"/>
              </a:ext>
            </a:extLst>
          </p:cNvPr>
          <p:cNvSpPr/>
          <p:nvPr/>
        </p:nvSpPr>
        <p:spPr>
          <a:xfrm>
            <a:off x="731520" y="4011930"/>
            <a:ext cx="5530291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2850B7F-8A98-12C0-26BD-8C689A5CFF40}"/>
              </a:ext>
            </a:extLst>
          </p:cNvPr>
          <p:cNvSpPr txBox="1"/>
          <p:nvPr/>
        </p:nvSpPr>
        <p:spPr>
          <a:xfrm>
            <a:off x="960120" y="4113530"/>
            <a:ext cx="5376672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00D639"/>
                </a:solidFill>
                <a:latin typeface="Segoe UI" panose="020B0502040204020203" pitchFamily="34" charset="0"/>
              </a:rPr>
              <a:t>DEMO EN VIVO   &gt;   Modulo Plan Stock / MRP</a:t>
            </a:r>
          </a:p>
        </p:txBody>
      </p:sp>
    </p:spTree>
    <p:extLst>
      <p:ext uri="{BB962C8B-B14F-4D97-AF65-F5344CB8AC3E}">
        <p14:creationId xmlns:p14="http://schemas.microsoft.com/office/powerpoint/2010/main" val="3966945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8907B8-5650-5CB8-712C-230B04907B8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C8781CD-AD4F-4787-CAC6-F65D0FC0F4B3}"/>
              </a:ext>
            </a:extLst>
          </p:cNvPr>
          <p:cNvSpPr/>
          <p:nvPr/>
        </p:nvSpPr>
        <p:spPr>
          <a:xfrm>
            <a:off x="6697980" y="1954530"/>
            <a:ext cx="694373" cy="694372"/>
          </a:xfrm>
          <a:prstGeom prst="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96896C3-2494-81CB-BCE1-69B694892258}"/>
              </a:ext>
            </a:extLst>
          </p:cNvPr>
          <p:cNvSpPr/>
          <p:nvPr/>
        </p:nvSpPr>
        <p:spPr>
          <a:xfrm>
            <a:off x="7315200" y="2571750"/>
            <a:ext cx="694372" cy="694372"/>
          </a:xfrm>
          <a:prstGeom prst="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0FEB275-4752-4066-B0FA-4AEB205183FE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98C83F-90BE-658A-4CEF-72A005B8299A}"/>
              </a:ext>
            </a:extLst>
          </p:cNvPr>
          <p:cNvSpPr txBox="1"/>
          <p:nvPr/>
        </p:nvSpPr>
        <p:spPr>
          <a:xfrm>
            <a:off x="731520" y="822960"/>
            <a:ext cx="7296912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Personaliza QUE quieres ver y COMO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0BCBE98-97CB-DAAF-355A-E592265550D3}"/>
              </a:ext>
            </a:extLst>
          </p:cNvPr>
          <p:cNvSpPr txBox="1"/>
          <p:nvPr/>
        </p:nvSpPr>
        <p:spPr>
          <a:xfrm>
            <a:off x="731520" y="1748790"/>
            <a:ext cx="5530291" cy="11695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8B8B8"/>
                </a:solidFill>
                <a:latin typeface="Segoe UI" panose="020B0502040204020203" pitchFamily="34" charset="0"/>
              </a:rPr>
              <a:t>Elige las columnas y los datos que te importan
Ordena, filtra y agrupa a tu manera
Gantt, Kanban o graficos: la misma realidad, tu vista
Cada usuario guarda su propia configuracion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D4F22A1-7153-BDBE-04BF-A1EB9AFBC4B8}"/>
              </a:ext>
            </a:extLst>
          </p:cNvPr>
          <p:cNvSpPr/>
          <p:nvPr/>
        </p:nvSpPr>
        <p:spPr>
          <a:xfrm>
            <a:off x="731520" y="4011930"/>
            <a:ext cx="5530291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DA18855-EA12-5A4F-8BC4-895887B1C294}"/>
              </a:ext>
            </a:extLst>
          </p:cNvPr>
          <p:cNvSpPr txBox="1"/>
          <p:nvPr/>
        </p:nvSpPr>
        <p:spPr>
          <a:xfrm>
            <a:off x="960120" y="4113530"/>
            <a:ext cx="5376672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00D639"/>
                </a:solidFill>
                <a:latin typeface="Segoe UI" panose="020B0502040204020203" pitchFamily="34" charset="0"/>
              </a:rPr>
              <a:t>DEMO EN VIVO   &gt;   Personalizar columnas / vistas / layout por usuario</a:t>
            </a:r>
          </a:p>
        </p:txBody>
      </p:sp>
    </p:spTree>
    <p:extLst>
      <p:ext uri="{BB962C8B-B14F-4D97-AF65-F5344CB8AC3E}">
        <p14:creationId xmlns:p14="http://schemas.microsoft.com/office/powerpoint/2010/main" val="3290683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BAB4634-56C1-11FE-3AB5-79387C66FD3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DFA15742-2843-1403-5BC8-8E28EC5B0B0F}"/>
              </a:ext>
            </a:extLst>
          </p:cNvPr>
          <p:cNvSpPr/>
          <p:nvPr/>
        </p:nvSpPr>
        <p:spPr>
          <a:xfrm>
            <a:off x="6697980" y="1954530"/>
            <a:ext cx="1234440" cy="1234440"/>
          </a:xfrm>
          <a:prstGeom prst="ellipse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179DB43-6D11-DF75-0D4A-768AF1F4CD31}"/>
              </a:ext>
            </a:extLst>
          </p:cNvPr>
          <p:cNvSpPr/>
          <p:nvPr/>
        </p:nvSpPr>
        <p:spPr>
          <a:xfrm>
            <a:off x="7083743" y="2340292"/>
            <a:ext cx="462915" cy="462915"/>
          </a:xfrm>
          <a:prstGeom prst="ellipse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36B5E9B-3B26-ADF0-5A80-0468752A3224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7C929D0-20CD-965E-7003-0DEFCB60FB36}"/>
              </a:ext>
            </a:extLst>
          </p:cNvPr>
          <p:cNvSpPr txBox="1"/>
          <p:nvPr/>
        </p:nvSpPr>
        <p:spPr>
          <a:xfrm>
            <a:off x="731520" y="822960"/>
            <a:ext cx="7296912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No es un traje de talla unica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9B61DC-51F7-6E98-2549-53C85EE8D7ED}"/>
              </a:ext>
            </a:extLst>
          </p:cNvPr>
          <p:cNvSpPr txBox="1"/>
          <p:nvPr/>
        </p:nvSpPr>
        <p:spPr>
          <a:xfrm>
            <a:off x="731520" y="1748790"/>
            <a:ext cx="5530291" cy="8771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8B8B8"/>
                </a:solidFill>
                <a:latin typeface="Segoe UI" panose="020B0502040204020203" pitchFamily="34" charset="0"/>
              </a:rPr>
              <a:t>Campos propios que Sage no tiene
Datos que solo tu fabrica necesita
El planner se moldea a vuestro proceso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9BEE2DB-A29A-82FB-1C99-0D68CB87FCDA}"/>
              </a:ext>
            </a:extLst>
          </p:cNvPr>
          <p:cNvSpPr/>
          <p:nvPr/>
        </p:nvSpPr>
        <p:spPr>
          <a:xfrm>
            <a:off x="731520" y="4011930"/>
            <a:ext cx="5530291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B4D977B-964F-4E0F-1C55-88753FCA40D9}"/>
              </a:ext>
            </a:extLst>
          </p:cNvPr>
          <p:cNvSpPr txBox="1"/>
          <p:nvPr/>
        </p:nvSpPr>
        <p:spPr>
          <a:xfrm>
            <a:off x="960120" y="4113530"/>
            <a:ext cx="5376672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00D639"/>
                </a:solidFill>
                <a:latin typeface="Segoe UI" panose="020B0502040204020203" pitchFamily="34" charset="0"/>
              </a:rPr>
              <a:t>DEMO EN VIVO   &gt;   Campos personalizados que Sage no tiene</a:t>
            </a:r>
          </a:p>
        </p:txBody>
      </p:sp>
    </p:spTree>
    <p:extLst>
      <p:ext uri="{BB962C8B-B14F-4D97-AF65-F5344CB8AC3E}">
        <p14:creationId xmlns:p14="http://schemas.microsoft.com/office/powerpoint/2010/main" val="3596671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8B45043-470D-F327-D7D5-6B2685CCE28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09EB5DF-3778-10B8-2204-34CB3EB60B25}"/>
              </a:ext>
            </a:extLst>
          </p:cNvPr>
          <p:cNvCxnSpPr/>
          <p:nvPr/>
        </p:nvCxnSpPr>
        <p:spPr>
          <a:xfrm flipV="1">
            <a:off x="6543675" y="2571750"/>
            <a:ext cx="617220" cy="61722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42D0965-8A26-D5BE-9379-71BB6CD6A02A}"/>
              </a:ext>
            </a:extLst>
          </p:cNvPr>
          <p:cNvCxnSpPr/>
          <p:nvPr/>
        </p:nvCxnSpPr>
        <p:spPr>
          <a:xfrm flipV="1">
            <a:off x="7160895" y="1800225"/>
            <a:ext cx="925830" cy="771525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20164A7-5C63-28A9-6374-6C66DBB8D5C1}"/>
              </a:ext>
            </a:extLst>
          </p:cNvPr>
          <p:cNvCxnSpPr/>
          <p:nvPr/>
        </p:nvCxnSpPr>
        <p:spPr>
          <a:xfrm flipH="1">
            <a:off x="7623810" y="1800225"/>
            <a:ext cx="462915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43E6C0D-8775-15A7-68C2-6B4E6CB52992}"/>
              </a:ext>
            </a:extLst>
          </p:cNvPr>
          <p:cNvCxnSpPr/>
          <p:nvPr/>
        </p:nvCxnSpPr>
        <p:spPr>
          <a:xfrm>
            <a:off x="8086725" y="1800225"/>
            <a:ext cx="0" cy="462915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EA3F4A10-2D3F-AD4E-9068-8E9CFFB13BCF}"/>
              </a:ext>
            </a:extLst>
          </p:cNvPr>
          <p:cNvSpPr/>
          <p:nvPr/>
        </p:nvSpPr>
        <p:spPr>
          <a:xfrm>
            <a:off x="3657600" y="1543050"/>
            <a:ext cx="1828800" cy="6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C34A8D1-A5B1-0C5A-79A2-1191D8AF4B38}"/>
              </a:ext>
            </a:extLst>
          </p:cNvPr>
          <p:cNvSpPr txBox="1"/>
          <p:nvPr/>
        </p:nvSpPr>
        <p:spPr>
          <a:xfrm>
            <a:off x="914400" y="1945831"/>
            <a:ext cx="73152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s-ES" sz="3400" b="1">
                <a:solidFill>
                  <a:srgbClr val="FFFFFF"/>
                </a:solidFill>
                <a:latin typeface="Segoe UI Light" panose="020B0502040204020203" pitchFamily="34" charset="0"/>
              </a:rPr>
              <a:t>Crece con vosotros.</a:t>
            </a:r>
          </a:p>
        </p:txBody>
      </p:sp>
    </p:spTree>
    <p:extLst>
      <p:ext uri="{BB962C8B-B14F-4D97-AF65-F5344CB8AC3E}">
        <p14:creationId xmlns:p14="http://schemas.microsoft.com/office/powerpoint/2010/main" val="1734673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A5C371-4ABE-E520-3177-82E80B879CE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BE9C5F2-3E65-5CC9-FF28-3BDE5946A118}"/>
              </a:ext>
            </a:extLst>
          </p:cNvPr>
          <p:cNvSpPr/>
          <p:nvPr/>
        </p:nvSpPr>
        <p:spPr>
          <a:xfrm>
            <a:off x="6775132" y="1877377"/>
            <a:ext cx="1080135" cy="1388745"/>
          </a:xfrm>
          <a:prstGeom prst="round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2E36C67-FB6F-78AC-CF24-69D3532924BA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BEC48E0-D3BB-06A9-5D96-D59A6300F2C2}"/>
              </a:ext>
            </a:extLst>
          </p:cNvPr>
          <p:cNvSpPr txBox="1"/>
          <p:nvPr/>
        </p:nvSpPr>
        <p:spPr>
          <a:xfrm>
            <a:off x="731520" y="822960"/>
            <a:ext cx="7296912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Y si algo sale mal...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241595-370E-444F-7AF3-24CC6F43F2FD}"/>
              </a:ext>
            </a:extLst>
          </p:cNvPr>
          <p:cNvSpPr txBox="1"/>
          <p:nvPr/>
        </p:nvSpPr>
        <p:spPr>
          <a:xfrm>
            <a:off x="731520" y="1748790"/>
            <a:ext cx="5530291" cy="8771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8B8B8"/>
                </a:solidFill>
                <a:latin typeface="Segoe UI" panose="020B0502040204020203" pitchFamily="34" charset="0"/>
              </a:rPr>
              <a:t>Alertas automaticas
Puntos de restauracion del plan
Deshacer / rehacer el plan entero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D6F91B5-3916-FF06-3EB1-F9CFB28FA6BC}"/>
              </a:ext>
            </a:extLst>
          </p:cNvPr>
          <p:cNvSpPr/>
          <p:nvPr/>
        </p:nvSpPr>
        <p:spPr>
          <a:xfrm>
            <a:off x="731520" y="4011930"/>
            <a:ext cx="5530291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5B8D619-A9D9-B5DB-42BC-4D4129E1CD50}"/>
              </a:ext>
            </a:extLst>
          </p:cNvPr>
          <p:cNvSpPr txBox="1"/>
          <p:nvPr/>
        </p:nvSpPr>
        <p:spPr>
          <a:xfrm>
            <a:off x="960120" y="4113530"/>
            <a:ext cx="5376672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00D639"/>
                </a:solidFill>
                <a:latin typeface="Segoe UI" panose="020B0502040204020203" pitchFamily="34" charset="0"/>
              </a:rPr>
              <a:t>DEMO EN VIVO   &gt;   Alertas + snapshot/restaurar + undo del plan</a:t>
            </a:r>
          </a:p>
        </p:txBody>
      </p:sp>
    </p:spTree>
    <p:extLst>
      <p:ext uri="{BB962C8B-B14F-4D97-AF65-F5344CB8AC3E}">
        <p14:creationId xmlns:p14="http://schemas.microsoft.com/office/powerpoint/2010/main" val="3845185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1D02CA7-5D82-74E6-AE78-16E8A5CA423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2A50D5A-4B3A-EA94-74D0-1E46F0693D4F}"/>
              </a:ext>
            </a:extLst>
          </p:cNvPr>
          <p:cNvSpPr/>
          <p:nvPr/>
        </p:nvSpPr>
        <p:spPr>
          <a:xfrm>
            <a:off x="6543675" y="2880360"/>
            <a:ext cx="277749" cy="462915"/>
          </a:xfrm>
          <a:prstGeom prst="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F2F5AE3-581F-A959-9A1B-08C25D71FBA2}"/>
              </a:ext>
            </a:extLst>
          </p:cNvPr>
          <p:cNvSpPr/>
          <p:nvPr/>
        </p:nvSpPr>
        <p:spPr>
          <a:xfrm>
            <a:off x="6975729" y="2602611"/>
            <a:ext cx="277749" cy="740664"/>
          </a:xfrm>
          <a:prstGeom prst="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F78D755-D880-F49F-E051-ADCBA73851AB}"/>
              </a:ext>
            </a:extLst>
          </p:cNvPr>
          <p:cNvSpPr/>
          <p:nvPr/>
        </p:nvSpPr>
        <p:spPr>
          <a:xfrm>
            <a:off x="7407783" y="2324862"/>
            <a:ext cx="277749" cy="1018413"/>
          </a:xfrm>
          <a:prstGeom prst="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D17C2FB-E1D9-8872-0BD9-C59EEC65E431}"/>
              </a:ext>
            </a:extLst>
          </p:cNvPr>
          <p:cNvSpPr/>
          <p:nvPr/>
        </p:nvSpPr>
        <p:spPr>
          <a:xfrm>
            <a:off x="7839837" y="2047113"/>
            <a:ext cx="277749" cy="1296162"/>
          </a:xfrm>
          <a:prstGeom prst="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35FAF69-9DD6-BE1F-6523-FAB16BF9FA09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F29069A-CE1B-8DA0-F94A-F7CA09F2134F}"/>
              </a:ext>
            </a:extLst>
          </p:cNvPr>
          <p:cNvSpPr txBox="1"/>
          <p:nvPr/>
        </p:nvSpPr>
        <p:spPr>
          <a:xfrm>
            <a:off x="731520" y="822960"/>
            <a:ext cx="7296912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Ves la foto completa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D317531-5C00-CCF3-C725-CAC5DEBD8A66}"/>
              </a:ext>
            </a:extLst>
          </p:cNvPr>
          <p:cNvSpPr txBox="1"/>
          <p:nvPr/>
        </p:nvSpPr>
        <p:spPr>
          <a:xfrm>
            <a:off x="731520" y="1748790"/>
            <a:ext cx="7296912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00D639"/>
                </a:solidFill>
                <a:latin typeface="Segoe UI" panose="020B0502040204020203" pitchFamily="34" charset="0"/>
              </a:rPr>
              <a:t>[MODULAR]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BEDE1C7-FA7E-FA93-57D9-2E28530E305E}"/>
              </a:ext>
            </a:extLst>
          </p:cNvPr>
          <p:cNvSpPr txBox="1"/>
          <p:nvPr/>
        </p:nvSpPr>
        <p:spPr>
          <a:xfrm>
            <a:off x="731520" y="2366010"/>
            <a:ext cx="5530291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8B8B8"/>
                </a:solidFill>
                <a:latin typeface="Segoe UI" panose="020B0502040204020203" pitchFamily="34" charset="0"/>
              </a:rPr>
              <a:t>Dashboard con graficos: carga, cumplimiento de entregas, ocupacion de centros.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0248037-6C8D-A60C-5163-A3CD1F04C702}"/>
              </a:ext>
            </a:extLst>
          </p:cNvPr>
          <p:cNvSpPr/>
          <p:nvPr/>
        </p:nvSpPr>
        <p:spPr>
          <a:xfrm>
            <a:off x="731520" y="4011930"/>
            <a:ext cx="5530291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92ACABB-C790-A2D9-9D2E-7DF7D9153254}"/>
              </a:ext>
            </a:extLst>
          </p:cNvPr>
          <p:cNvSpPr txBox="1"/>
          <p:nvPr/>
        </p:nvSpPr>
        <p:spPr>
          <a:xfrm>
            <a:off x="960120" y="4113530"/>
            <a:ext cx="5376672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00D639"/>
                </a:solidFill>
                <a:latin typeface="Segoe UI" panose="020B0502040204020203" pitchFamily="34" charset="0"/>
              </a:rPr>
              <a:t>DEMO EN VIVO   &gt;   Dashboard de analisis del plan</a:t>
            </a:r>
          </a:p>
        </p:txBody>
      </p:sp>
    </p:spTree>
    <p:extLst>
      <p:ext uri="{BB962C8B-B14F-4D97-AF65-F5344CB8AC3E}">
        <p14:creationId xmlns:p14="http://schemas.microsoft.com/office/powerpoint/2010/main" val="1226956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505116-FEEC-F539-8707-60C8895EE50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10F8349-FECA-7335-BD68-9DCD30D0DD74}"/>
              </a:ext>
            </a:extLst>
          </p:cNvPr>
          <p:cNvCxnSpPr/>
          <p:nvPr/>
        </p:nvCxnSpPr>
        <p:spPr>
          <a:xfrm flipV="1">
            <a:off x="6543675" y="2571750"/>
            <a:ext cx="617220" cy="61722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EE256900-A5C1-AA93-6213-461CA5B0441D}"/>
              </a:ext>
            </a:extLst>
          </p:cNvPr>
          <p:cNvCxnSpPr/>
          <p:nvPr/>
        </p:nvCxnSpPr>
        <p:spPr>
          <a:xfrm flipV="1">
            <a:off x="7160895" y="1800225"/>
            <a:ext cx="925830" cy="771525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CE0041E-2FE5-5684-E2F9-42611F2B14A3}"/>
              </a:ext>
            </a:extLst>
          </p:cNvPr>
          <p:cNvCxnSpPr/>
          <p:nvPr/>
        </p:nvCxnSpPr>
        <p:spPr>
          <a:xfrm flipH="1">
            <a:off x="7623810" y="1800225"/>
            <a:ext cx="462915" cy="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C85D62C-B6E5-B33B-9E4F-56EB5820BE31}"/>
              </a:ext>
            </a:extLst>
          </p:cNvPr>
          <p:cNvCxnSpPr/>
          <p:nvPr/>
        </p:nvCxnSpPr>
        <p:spPr>
          <a:xfrm>
            <a:off x="8086725" y="1800225"/>
            <a:ext cx="0" cy="462915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04620104-9261-6524-31A8-A3966C19494D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782FEBC-9A5E-22DB-35CB-C24192CA51A3}"/>
              </a:ext>
            </a:extLst>
          </p:cNvPr>
          <p:cNvSpPr txBox="1"/>
          <p:nvPr/>
        </p:nvSpPr>
        <p:spPr>
          <a:xfrm>
            <a:off x="731520" y="822960"/>
            <a:ext cx="6912864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000" b="1">
                <a:solidFill>
                  <a:srgbClr val="FFFFFF"/>
                </a:solidFill>
                <a:latin typeface="Segoe UI Semibold" panose="020B0702040204020203" pitchFamily="34" charset="0"/>
              </a:rPr>
              <a:t>No es un gasto. Es una inversion que se paga sola.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084A802-569E-8DB5-5E98-2022970D4E70}"/>
              </a:ext>
            </a:extLst>
          </p:cNvPr>
          <p:cNvSpPr txBox="1"/>
          <p:nvPr/>
        </p:nvSpPr>
        <p:spPr>
          <a:xfrm>
            <a:off x="731520" y="2160270"/>
            <a:ext cx="768096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200" b="1">
                <a:solidFill>
                  <a:srgbClr val="00D639"/>
                </a:solidFill>
                <a:latin typeface="Segoe UI" panose="020B0502040204020203" pitchFamily="34" charset="0"/>
              </a:rPr>
              <a:t>Horas de planificacion  -&gt;  minutos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FDF1EFC-97FC-300F-DE5A-F89FA938A252}"/>
              </a:ext>
            </a:extLst>
          </p:cNvPr>
          <p:cNvSpPr txBox="1"/>
          <p:nvPr/>
        </p:nvSpPr>
        <p:spPr>
          <a:xfrm>
            <a:off x="731520" y="2880360"/>
            <a:ext cx="768096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200" b="1">
                <a:solidFill>
                  <a:srgbClr val="00D639"/>
                </a:solidFill>
                <a:latin typeface="Segoe UI" panose="020B0502040204020203" pitchFamily="34" charset="0"/>
              </a:rPr>
              <a:t>Mas entregas a tiempo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C2121C3-AA87-9508-CE70-5FA44D168B5B}"/>
              </a:ext>
            </a:extLst>
          </p:cNvPr>
          <p:cNvSpPr txBox="1"/>
          <p:nvPr/>
        </p:nvSpPr>
        <p:spPr>
          <a:xfrm>
            <a:off x="731520" y="3600450"/>
            <a:ext cx="768096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200" b="1">
                <a:solidFill>
                  <a:srgbClr val="00D639"/>
                </a:solidFill>
                <a:latin typeface="Segoe UI" panose="020B0502040204020203" pitchFamily="34" charset="0"/>
              </a:rPr>
              <a:t>Maquinas y personas mejor aprovechadas</a:t>
            </a:r>
          </a:p>
        </p:txBody>
      </p:sp>
    </p:spTree>
    <p:extLst>
      <p:ext uri="{BB962C8B-B14F-4D97-AF65-F5344CB8AC3E}">
        <p14:creationId xmlns:p14="http://schemas.microsoft.com/office/powerpoint/2010/main" val="4217248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26C0531-E467-DE87-6592-B37492E5C64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6E708E9A-4837-6389-1E73-172C871DB071}"/>
              </a:ext>
            </a:extLst>
          </p:cNvPr>
          <p:cNvCxnSpPr/>
          <p:nvPr/>
        </p:nvCxnSpPr>
        <p:spPr>
          <a:xfrm>
            <a:off x="6697980" y="1800225"/>
            <a:ext cx="0" cy="1543050"/>
          </a:xfrm>
          <a:prstGeom prst="straightConnector1">
            <a:avLst/>
          </a:prstGeom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41AEB7FB-8066-149D-5BB8-71C9DE825594}"/>
              </a:ext>
            </a:extLst>
          </p:cNvPr>
          <p:cNvSpPr/>
          <p:nvPr/>
        </p:nvSpPr>
        <p:spPr>
          <a:xfrm>
            <a:off x="6697980" y="1800225"/>
            <a:ext cx="1080135" cy="617220"/>
          </a:xfrm>
          <a:prstGeom prst="rect">
            <a:avLst/>
          </a:prstGeom>
          <a:noFill/>
          <a:ln w="25400" cap="flat" cmpd="sng" algn="ctr">
            <a:solidFill>
              <a:srgbClr val="1A7A2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B4F7DF0-F54E-E5CC-626F-3D41C1664FE9}"/>
              </a:ext>
            </a:extLst>
          </p:cNvPr>
          <p:cNvSpPr/>
          <p:nvPr/>
        </p:nvSpPr>
        <p:spPr>
          <a:xfrm>
            <a:off x="3657600" y="1543050"/>
            <a:ext cx="1828800" cy="635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1EA921F-3E2E-A62C-980B-A29C0F688760}"/>
              </a:ext>
            </a:extLst>
          </p:cNvPr>
          <p:cNvSpPr txBox="1"/>
          <p:nvPr/>
        </p:nvSpPr>
        <p:spPr>
          <a:xfrm>
            <a:off x="914400" y="1945831"/>
            <a:ext cx="73152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s-ES" sz="3400" b="1">
                <a:solidFill>
                  <a:srgbClr val="FFFFFF"/>
                </a:solidFill>
                <a:latin typeface="Segoe UI Light" panose="020B0502040204020203" pitchFamily="34" charset="0"/>
              </a:rPr>
              <a:t>Imagina tu proximo lunes.</a:t>
            </a:r>
          </a:p>
        </p:txBody>
      </p:sp>
    </p:spTree>
    <p:extLst>
      <p:ext uri="{BB962C8B-B14F-4D97-AF65-F5344CB8AC3E}">
        <p14:creationId xmlns:p14="http://schemas.microsoft.com/office/powerpoint/2010/main" val="272507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593E679-2B04-2BE3-D9B8-D71E77F4FC9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4550765"/>
            <a:ext cx="1463040" cy="33556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DC18A23-F5DD-0766-9790-063F66DEBCDA}"/>
              </a:ext>
            </a:extLst>
          </p:cNvPr>
          <p:cNvSpPr/>
          <p:nvPr/>
        </p:nvSpPr>
        <p:spPr>
          <a:xfrm>
            <a:off x="731520" y="1851660"/>
            <a:ext cx="914400" cy="76200"/>
          </a:xfrm>
          <a:prstGeom prst="rect">
            <a:avLst/>
          </a:prstGeom>
          <a:solidFill>
            <a:srgbClr val="00D63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4DC978C-803D-84B1-915D-F67370DA74B9}"/>
              </a:ext>
            </a:extLst>
          </p:cNvPr>
          <p:cNvSpPr txBox="1"/>
          <p:nvPr/>
        </p:nvSpPr>
        <p:spPr>
          <a:xfrm>
            <a:off x="731520" y="2057400"/>
            <a:ext cx="7680960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800" b="1">
                <a:solidFill>
                  <a:srgbClr val="FFFFFF"/>
                </a:solidFill>
                <a:latin typeface="Segoe UI Light" panose="020B0502040204020203" pitchFamily="34" charset="0"/>
              </a:rPr>
              <a:t>Hablemos de tu fabrica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7B5ADD7-E240-FCF7-5DAC-D486FCA579D2}"/>
              </a:ext>
            </a:extLst>
          </p:cNvPr>
          <p:cNvSpPr txBox="1"/>
          <p:nvPr/>
        </p:nvSpPr>
        <p:spPr>
          <a:xfrm>
            <a:off x="731520" y="3188970"/>
            <a:ext cx="7680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800">
                <a:solidFill>
                  <a:srgbClr val="00D639"/>
                </a:solidFill>
                <a:latin typeface="Segoe UI" panose="020B0502040204020203" pitchFamily="34" charset="0"/>
              </a:rPr>
              <a:t>El siguiente paso: verlo con vuestros propios datos.</a:t>
            </a:r>
          </a:p>
        </p:txBody>
      </p:sp>
    </p:spTree>
    <p:extLst>
      <p:ext uri="{BB962C8B-B14F-4D97-AF65-F5344CB8AC3E}">
        <p14:creationId xmlns:p14="http://schemas.microsoft.com/office/powerpoint/2010/main" val="8675797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1251</Words>
  <Application>Microsoft Office PowerPoint</Application>
  <PresentationFormat>Presentación en pantalla (16:9)</PresentationFormat>
  <Paragraphs>105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Segoe UI</vt:lpstr>
      <vt:lpstr>Segoe UI Light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Guillem Parera Ruiz</dc:creator>
  <cp:lastModifiedBy>Guillem Parera Ruiz</cp:lastModifiedBy>
  <cp:revision>1</cp:revision>
  <dcterms:created xsi:type="dcterms:W3CDTF">2026-06-29T22:19:19Z</dcterms:created>
  <dcterms:modified xsi:type="dcterms:W3CDTF">2026-06-29T22:19:19Z</dcterms:modified>
</cp:coreProperties>
</file>